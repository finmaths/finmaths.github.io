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 we start a unit on money: how people earn it, how it grows, and what it costs to spend or borrow it. We start with one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five job ads are made up for this lesson. Let's read them together. Point out any word you have not seen before, like p.a., commission or royalty. I will explain each one today. Now vote: hands up for A, B, C, D, 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Expected: No, it depends. We need the barista's hours, how much the salesperson sells, how many shirts are printed and how many books are sold.
Expected: Find the barista's hours, then put both jobs over the same time, for example per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plan. Today: the different ways people are paid. Next lesson: extra pay for overtime, weekends and public holidays. Then weekly, monthly and yearly pay, tax and take-home pay. By the end of Lesson 3 you will be able to answer today's question properly.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quiz link on the class page. Work on your own; calculators are allowed. You will see your result as soon as you submit.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what we are learning today, and how you will know you have it. We will come back to these three boxes at the end of the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Expected: $25 × 20 = $500.
Expected: Usually not. A salary is a set amount for the year, paid in equal parts, unless the contract says otherwise.
Start your vocabulary cards with wage and salary.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Watch every step. Commission is 5% of what she sells. 5% as a decimal is 0.05. 0.05 times 6000 is 300. Then add the retainer: 400 plus 300 is 700.
Expected: Per cent means out of 100, so 5% = 5 ÷ 100 = 0.05. 0.5 would be 50%.
Expected: On the $6,000. Commission is a percentage of what she sells, not of her retainer.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Look at the arrow. The 5% comes from the $6,000 of sales. The $400 retainer is paid whatever she sells, and it is added afterwards. 5% of the $400 would give only $20.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Expected: 0.05 × $9,000 = $450. $400 + $450 = $850.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Expected: For what he produces. The more shirts he prints, the more he earns. The photo shows fruit picking, which is often paid this way: so much per bucket.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Expected: Both depend on sales. A royalty is paid to the person who created the work each time it is sold or used. It can be a percentage of the price, like this book, or a set amount each time, like a song being streamed.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 on your own. I will come round and check two things: that you change the percentage to a decimal, and that commission is worked out on the sales, not on the retainer. Use your vocabulary cards if you get stuck.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Expected: A wage, B salary, C retainer plus commission, D piecework, E royalty.
Key question, any reasoned answer: a wage because the pay is the same each week; commission because good sales can earn more, though the pay changes; piecework because working faster earns more.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 out the exit ticket and collect it before you leave. Next lesson: what happens to Ella's pay on a Sunday?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5544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job pays the most?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514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E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1 · Ways of earning money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10 · Financial mathematics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jobs. Which one pays the most?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Vote with your hand up: A, B, C, D or E?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5908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463040"/>
            <a:ext cx="384048" cy="384048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78992" y="1463040"/>
            <a:ext cx="185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Café barista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929384"/>
            <a:ext cx="231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 per hour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76600" y="1325880"/>
            <a:ext cx="25908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13760" y="1463040"/>
            <a:ext cx="384048" cy="384048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1376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898392" y="1463040"/>
            <a:ext cx="185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 assistant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13760" y="1929384"/>
            <a:ext cx="231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$58,500 p.a.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96000" y="1325880"/>
            <a:ext cx="25908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33160" y="1463040"/>
            <a:ext cx="384048" cy="384048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3316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717792" y="1463040"/>
            <a:ext cx="185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shop sales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233160" y="1929384"/>
            <a:ext cx="231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 per week + 5% commission on sales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866900" y="2926080"/>
            <a:ext cx="25908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04060" y="3063240"/>
            <a:ext cx="384048" cy="384048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00406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2488692" y="3063240"/>
            <a:ext cx="185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T-shirt printer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2004060" y="3529584"/>
            <a:ext cx="231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$1.80 per shirt printed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686300" y="2926080"/>
            <a:ext cx="25908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23460" y="3063240"/>
            <a:ext cx="384048" cy="384048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82346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5308092" y="3063240"/>
            <a:ext cx="185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Children's book author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823460" y="3529584"/>
            <a:ext cx="231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 royalty on every book sold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we actually tell which job pays the most?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FF4C2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371600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question  </a:t>
            </a:r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would we need to know first?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242316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FF4C2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2423160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question  </a:t>
            </a:r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would we need to do to compare the barista with the office assistant?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429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Think. Then tell the person next to you.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4023360"/>
            <a:ext cx="1536192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4023360"/>
            <a:ext cx="1353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 per hour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130552" y="4023360"/>
            <a:ext cx="1536192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221992" y="4023360"/>
            <a:ext cx="1353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$58,500 p.a.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803904" y="4023360"/>
            <a:ext cx="1536192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895344" y="4023360"/>
            <a:ext cx="1353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 per week + 5% commission on sales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77256" y="4023360"/>
            <a:ext cx="1536192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568696" y="4023360"/>
            <a:ext cx="1353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$1.80 per shirt printed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150608" y="4023360"/>
            <a:ext cx="1536192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242048" y="4023360"/>
            <a:ext cx="1353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 royalty on every book sold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this unit goes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Lesson 3 you can answer "Which job pays the most?" properly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216152" y="2377440"/>
            <a:ext cx="6711696" cy="0"/>
          </a:xfrm>
          <a:prstGeom prst="line">
            <a:avLst/>
          </a:prstGeom>
          <a:noFill/>
          <a:ln w="38100">
            <a:solidFill>
              <a:srgbClr val="D5DC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121408"/>
            <a:ext cx="512064" cy="512064"/>
          </a:xfrm>
          <a:prstGeom prst="ellipse">
            <a:avLst/>
          </a:prstGeom>
          <a:solidFill>
            <a:srgbClr val="1F7A8C"/>
          </a:solidFill>
          <a:ln w="38100">
            <a:solidFill>
              <a:srgbClr val="1F7A8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834640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291840"/>
            <a:ext cx="15179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Ways people are paid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638044" y="2121408"/>
            <a:ext cx="512064" cy="512064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7A8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135124" y="2834640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135124" y="3291840"/>
            <a:ext cx="15179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 pay: overtime, weekends, public holidays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315968" y="2121408"/>
            <a:ext cx="512064" cy="512064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7A8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813048" y="2834640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813048" y="3291840"/>
            <a:ext cx="15179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Weekly, monthly, yearly pay, tax and take-home pay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993892" y="2121408"/>
            <a:ext cx="512064" cy="512064"/>
          </a:xfrm>
          <a:prstGeom prst="ellipse">
            <a:avLst/>
          </a:prstGeom>
          <a:solidFill>
            <a:srgbClr val="FFFFFF"/>
          </a:solidFill>
          <a:ln w="38100">
            <a:solidFill>
              <a:srgbClr val="6B3FA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90972" y="2834640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3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Lessons 4–6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490972" y="3291840"/>
            <a:ext cx="15179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 interest on savings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671816" y="2121408"/>
            <a:ext cx="512064" cy="512064"/>
          </a:xfrm>
          <a:prstGeom prst="ellipse">
            <a:avLst/>
          </a:prstGeom>
          <a:solidFill>
            <a:srgbClr val="FFFFFF"/>
          </a:solidFill>
          <a:ln w="38100">
            <a:solidFill>
              <a:srgbClr val="C55A1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168896" y="2834640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55A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Lessons 7–9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168896" y="3291840"/>
            <a:ext cx="15179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Spending money and financial decisions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1691640"/>
            <a:ext cx="1517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are here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quiz · 10 minutes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quiz link on the class page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977640" cy="2651760"/>
          </a:xfrm>
          <a:prstGeom prst="roundRect">
            <a:avLst>
              <a:gd name="adj" fmla="val 3448"/>
            </a:avLst>
          </a:prstGeom>
          <a:solidFill>
            <a:srgbClr val="E7F2F3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questions, on your own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Calculators allowed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result shows when you submit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709160" y="132588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quiz checks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709160" y="1783080"/>
            <a:ext cx="3977640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92040" y="178308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Percentages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709160" y="2331720"/>
            <a:ext cx="3977640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92040" y="233172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Multiplying and dividing money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709160" y="2880360"/>
            <a:ext cx="3977640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92040" y="288036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and pay periods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709160" y="3429000"/>
            <a:ext cx="3977640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92040" y="342900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pay rule and timesheets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E7F2F3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0058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intention  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 learning to identify the different ways people are paid and to calculate earnings from a wage, commission, piecework and royalties.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criteria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2651760"/>
            <a:ext cx="256032" cy="256032"/>
          </a:xfrm>
          <a:prstGeom prst="rect">
            <a:avLst/>
          </a:prstGeom>
          <a:solidFill>
            <a:srgbClr val="FFFFFF"/>
          </a:solidFill>
          <a:ln w="19050">
            <a:solidFill>
              <a:srgbClr val="17365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2560320"/>
            <a:ext cx="7818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can </a:t>
            </a:r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difference between a wage, a salary, commission, piecework and a royalty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3337560"/>
            <a:ext cx="256032" cy="256032"/>
          </a:xfrm>
          <a:prstGeom prst="rect">
            <a:avLst/>
          </a:prstGeom>
          <a:solidFill>
            <a:srgbClr val="FFFFFF"/>
          </a:solidFill>
          <a:ln w="19050">
            <a:solidFill>
              <a:srgbClr val="17365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3246120"/>
            <a:ext cx="7818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can </a:t>
            </a:r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wage from an hourly rate and the hours worked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4023360"/>
            <a:ext cx="256032" cy="256032"/>
          </a:xfrm>
          <a:prstGeom prst="rect">
            <a:avLst/>
          </a:prstGeom>
          <a:solidFill>
            <a:srgbClr val="FFFFFF"/>
          </a:solidFill>
          <a:ln w="19050">
            <a:solidFill>
              <a:srgbClr val="17365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3931920"/>
            <a:ext cx="7818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can </a:t>
            </a:r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earnings from commission, piecework and royalties, and work backwards from total pay to find sales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Wage or salary?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397764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4" name="Image 0" descr="/Users/xiepeiyi/Desktop/secondary teaching-skills/usyd/5663-Mathematics/assessments/at2-unit-of-work/website/assets/img/vocab-wag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" y="1097280"/>
            <a:ext cx="1828800" cy="14630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560320" y="10972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wage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2560320" y="155448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worked out as hours worked × hourly rate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269748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Café barista: $25 per hour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709160" y="960120"/>
            <a:ext cx="397764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9" name="Image 1" descr="/Users/xiepeiyi/Desktop/secondary teaching-skills/usyd/5663-Mathematics/assessments/at2-unit-of-work/website/assets/img/vocab-salary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46320" y="1097280"/>
            <a:ext cx="1828800" cy="14630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812280" y="10972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salary</a:t>
            </a:r>
            <a:endParaRPr lang="en-US" sz="2200" dirty="0"/>
          </a:p>
        </p:txBody>
      </p:sp>
      <p:sp>
        <p:nvSpPr>
          <p:cNvPr id="11" name="Text 7"/>
          <p:cNvSpPr txBox="1"/>
          <p:nvPr/>
        </p:nvSpPr>
        <p:spPr>
          <a:xfrm>
            <a:off x="6812280" y="155448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set amount of pay for a year, paid in equal parts (for example weekly or monthly)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4846320" y="269748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Office assistant: $58,500 p.a.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457200" y="3493008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FF4C2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94360" y="349300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question  </a:t>
            </a:r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Ella, the barista in ad A, works 20 hours this week at $25 per hour. What is her wage?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457200" y="4206240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FF4C2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94360" y="4206240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question  </a:t>
            </a:r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office assistant works 5 extra hours this week, does their pay go up?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 1: commission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Jess sells phones. She is paid a retainer of $400 per week plus 5% commission on her sales. This week she sold $6,000 of phones. What is her pay?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83080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Commission = 5% of $6,000</a:t>
            </a:r>
            <a:endParaRPr lang="en-US" sz="2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0.05 × $6,000 = $300</a:t>
            </a:r>
            <a:endParaRPr lang="en-US" sz="2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pay = $400 + $300 = $700</a:t>
            </a:r>
            <a:endParaRPr lang="en-US" sz="2200" dirty="0"/>
          </a:p>
        </p:txBody>
      </p:sp>
      <p:pic>
        <p:nvPicPr>
          <p:cNvPr id="5" name="Image 0" descr="/Users/xiepeiyi/Desktop/secondary teaching-skills/usyd/5663-Mathematics/assessments/at2-unit-of-work/website/assets/img/vocab-commission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52160" y="1737360"/>
            <a:ext cx="2834640" cy="1600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3657600"/>
            <a:ext cx="3977640" cy="822960"/>
          </a:xfrm>
          <a:prstGeom prst="roundRect">
            <a:avLst>
              <a:gd name="adj" fmla="val 8889"/>
            </a:avLst>
          </a:prstGeom>
          <a:solidFill>
            <a:srgbClr val="FFF4C2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3657600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question  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 we write 5% as 0.05 and not 0.5?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709160" y="3657600"/>
            <a:ext cx="3977640" cy="822960"/>
          </a:xfrm>
          <a:prstGeom prst="roundRect">
            <a:avLst>
              <a:gd name="adj" fmla="val 8889"/>
            </a:avLst>
          </a:prstGeom>
          <a:solidFill>
            <a:srgbClr val="FFF4C2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846320" y="3657600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question  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5% worked out on the $400 or on the $6,000?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does the 5% come from?</a:t>
            </a:r>
            <a:endParaRPr lang="en-US" sz="2800" dirty="0"/>
          </a:p>
        </p:txBody>
      </p:sp>
      <p:pic>
        <p:nvPicPr>
          <p:cNvPr id="3" name="Image 0" descr="/var/folders/9c/bpqwjkxs5lx9pmncd7cyl1kh0000gn/T/tmp.A4QpzxHeui/commission-retainer-sl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8229600" cy="2030289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3447609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E7F2F3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3447609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Commission is worked out on the sales. The retainer is added afterwards.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do: your turn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it out in your book before we check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2377440"/>
          </a:xfrm>
          <a:prstGeom prst="roundRect">
            <a:avLst>
              <a:gd name="adj" fmla="val 3846"/>
            </a:avLst>
          </a:prstGeom>
          <a:solidFill>
            <a:srgbClr val="E7F2F3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463040"/>
            <a:ext cx="7498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Jess sells $9,000 of phones next week. She still gets the $400 retainer plus 5% commission. What is her pay?</a:t>
            </a:r>
            <a:endParaRPr lang="en-US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 2: piecework</a:t>
            </a:r>
            <a:endParaRPr lang="en-US" sz="2800" dirty="0"/>
          </a:p>
        </p:txBody>
      </p:sp>
      <p:pic>
        <p:nvPicPr>
          <p:cNvPr id="3" name="Image 0" descr="/Users/xiepeiyi/Desktop/secondary teaching-skills/usyd/5663-Mathematics/assessments/at2-unit-of-work/website/assets/img/vocab-piecework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52160" y="914400"/>
            <a:ext cx="2834640" cy="21031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91440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 prints T-shirts and is paid $1.80 for each shirt. On Tuesday he printed 240 shirts. How much does he earn?</a:t>
            </a:r>
            <a:endParaRPr lang="en-US" sz="17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0574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= $1.80 × 240 = $432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7432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Piecework: pay for each item produced or each task completed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356616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4C2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4360" y="3566160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question  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Tom paid for his time or for what he produces?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 3: royalty</a:t>
            </a:r>
            <a:endParaRPr lang="en-US" sz="2800" dirty="0"/>
          </a:p>
        </p:txBody>
      </p:sp>
      <p:pic>
        <p:nvPicPr>
          <p:cNvPr id="3" name="Image 0" descr="/Users/xiepeiyi/Desktop/secondary teaching-skills/usyd/5663-Mathematics/assessments/at2-unit-of-work/website/assets/img/vocab-royalty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52160" y="914400"/>
            <a:ext cx="2834640" cy="21031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91440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author earns a 10% royalty on each book sold. The book sells for $25 and 3,000 copies are sold. How much does the author earn?</a:t>
            </a:r>
            <a:endParaRPr lang="en-US" sz="17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011680"/>
            <a:ext cx="5120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Royalty per book = 10% of $25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0.10 × $25 = $2.50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royalty = $2.50 × 3,000 = $7,500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457200" y="356616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4C2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3566160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question  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is a royalty like commission?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your worksheet, on your own. Finished? Try the extension.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34440"/>
            <a:ext cx="822960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F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Leo works 15 hours at $23.50 per hour. What is his wage?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F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car salesperson earns 3% commission. She sells a car for $28,000. How much commission does she earn?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F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fruit picker is paid $3.20 for each bucket of fruit and picks 85 buckets. How much does she earn?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F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musician earns a royalty of $0.004 each time her song is streamed. The song is streamed 250,000 times. How much does she earn?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F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 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Jess (from Worked example 1) earned $820 this week, made up of her $400 retainer plus 5% commission. What were her sales?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2976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Extension  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art centre sells a painting for $1,800 and keeps 25% commission. How much does the artist receive? Read the paragraph about art centres on your worksheet first.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 to the five jobs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way of being paid is each one?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5908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417320"/>
            <a:ext cx="384048" cy="384048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78992" y="1417320"/>
            <a:ext cx="185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Café barista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883664"/>
            <a:ext cx="231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 per hour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76600" y="1280160"/>
            <a:ext cx="25908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13760" y="1417320"/>
            <a:ext cx="384048" cy="384048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1376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898392" y="1417320"/>
            <a:ext cx="185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 assistant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13760" y="1883664"/>
            <a:ext cx="231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$58,500 p.a.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96000" y="1280160"/>
            <a:ext cx="25908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33160" y="1417320"/>
            <a:ext cx="384048" cy="384048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3316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717792" y="1417320"/>
            <a:ext cx="185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shop sales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233160" y="1883664"/>
            <a:ext cx="231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 per week + 5% commission on sales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866900" y="2606040"/>
            <a:ext cx="25908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04060" y="2743200"/>
            <a:ext cx="384048" cy="384048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004060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2488692" y="2743200"/>
            <a:ext cx="185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T-shirt printer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2004060" y="3209544"/>
            <a:ext cx="231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$1.80 per shirt printed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686300" y="2606040"/>
            <a:ext cx="25908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23460" y="2743200"/>
            <a:ext cx="384048" cy="384048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823460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5308092" y="2743200"/>
            <a:ext cx="185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Children's book author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823460" y="3209544"/>
            <a:ext cx="231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 royalty on every book sold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57200" y="406908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FF4C2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94360" y="406908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question  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way of being paid would you choose for your first job, and why?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828800"/>
          </a:xfrm>
          <a:prstGeom prst="roundRect">
            <a:avLst>
              <a:gd name="adj" fmla="val 5000"/>
            </a:avLst>
          </a:prstGeom>
          <a:solidFill>
            <a:srgbClr val="E7F2F3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00584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the exit ticket on your own.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 the success criteria you can now do.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any you cannot tick, write the step that is still unclear.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315468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315468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FE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lesson  </a:t>
            </a:r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to Ella's pay on a Sunday?</a:t>
            </a:r>
            <a:endParaRPr lang="en-US" sz="2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credits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wage: "Barista making coffee", rawpixel, CC0 1.0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salary: "Irene's office, across the asile [sic] from me" by wbaiv, CC BY-SA 2.0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commission: "House For Sale, Real Estate SOLD sign" by myguys.nova, CC BY 2.0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piecework: "Aunties Lay Leong, Susan and Julie with buckets of cherries" by avlxyz, CC BY-SA 2.0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royalty: "Books" by NeilGHamilton, CC BY 2.0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ads, names and figures are made up for this lesson.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1: Ways of Earning Money</dc:title>
  <dc:subject>PptxGenJS Presentation</dc:subject>
  <dc:creator>Chloe Hsieh</dc:creator>
  <cp:lastModifiedBy>Chloe Hsieh</cp:lastModifiedBy>
  <cp:revision>1</cp:revision>
  <dcterms:created xsi:type="dcterms:W3CDTF">2026-10-19T13:40:34Z</dcterms:created>
  <dcterms:modified xsi:type="dcterms:W3CDTF">2026-10-19T13:40:34Z</dcterms:modified>
</cp:coreProperties>
</file>