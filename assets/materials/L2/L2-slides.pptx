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1. $42. 2. $19. 3. 3 + 4.5 = 7.5 hours, and $23.50 × 7.5 = $176.25. 4. $25 per 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The $5 tip. It is not paid per hour, so take it off first: $105 − $5 = $100.
Expected: Divide by the 4 hours: $100 ÷ 4 = $25 per hour. It is Lesson 1's pay = hourly rate × hours, worked backwards.
If you divided $105 by 4 and got $26.25: did Ella earn the tip for each hour?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what we are learning today, and how you will know you have it. You will tick these on your exit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 and a half means times 1.5. Double time means times 2. Let's work out each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The 4 hours Ella worked on Saturday.
Expected: Time and a half means one and a half times the base rate: $25 plus half of $25, which is $12.50, makes $37.50. $26.50 comes from adding $1.50, which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 at the bars. Time and a half adds half of the base rate again. Double time adds the whole base rate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day we started from the base rate, multiplied by a number for the kind of day, then multiplied by the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box stays on the board until the exit ticket.
Expected: × 1. The base rate does not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$25 × 2.5 × 3 = $187.50.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two column headings aloud.
Expected: the first 2 overtime hours are paid at one rate, and every hour after that at a higher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rates match the pay guide: time and a half, then double time.
Expected: Only the first 2 hours are at time and a half. After 2 hours the rate changes to double time. 4 × $39.66 = $158.64, which is $26.44 too little.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$33. Half of $22 is $11, and $22 + $11 = $33, which is the same as $22 × 1.5. $23.50 comes from adding 1.5.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The second line. He added the 6 hours instead of multiplying.
Expected: It is wrong because he earns $33 for each of the 6 hours, so it is 6 lots of $33: $33 × 6 = $198.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on your own. If you get stuck, read the line aloud: is it times or plus?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They all use the base rate times a multiplier. Only the multiplier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the exit ticket and collect it before you leave.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Overtime, weekend and public holiday pay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 · One rule for every penalty rate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4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10 · Financial mathematics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own. Calculators allowed.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9776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399032"/>
            <a:ext cx="411480" cy="4114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399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716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1.5 × $28.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709160" y="1234440"/>
            <a:ext cx="39776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73752" y="1399032"/>
            <a:ext cx="411480" cy="4114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73752" y="1399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37160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$114 ÷ 6.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39776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3364992"/>
            <a:ext cx="411480" cy="4114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364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3375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earns $23.50 per hour. He works 3 hours on Monday and 4.5 hours on Thursday. What is his pay?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709160" y="3200400"/>
            <a:ext cx="39776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73752" y="3364992"/>
            <a:ext cx="411480" cy="4114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73752" y="3364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40680" y="33375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Ella is a casual barista. She worked a 4-hour weekday shift and was paid $105, which included a $5 tip. What is her hourly rate?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Ella's hourly rate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Ella worked a 4-hour weekday shift and was paid $105, which included a $5 tip.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256032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part of the $105 is not pay for the hours Ella worked?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352044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you get from $100 to her hourly rate?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intention 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learning to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pay for overtime, weekend and public-holiday shifts by multiplying the base hourly rate by a multiplier.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450592"/>
            <a:ext cx="237744" cy="237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359152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backwards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total pay to find the base hourly rate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072384"/>
            <a:ext cx="237744" cy="237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2980944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apart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“time and a half” (× 1.5) and “double time” (× 2), and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why the multiplier is multiplied, not added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694176"/>
            <a:ext cx="237744" cy="237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3602736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total pay for an irregular week (weekday, Saturday, public holiday)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4315968"/>
            <a:ext cx="237744" cy="237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65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422452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can </a:t>
            </a:r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overtime pay when the rate changes after the first 2 hours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Ella's week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Ella's base rate is $25 per hour. These are the rates at Ella's café.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6858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22860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Thursday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h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normal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Saturday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h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and a half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Sunday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h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double time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0" y="1371600"/>
            <a:ext cx="3017520" cy="2194560"/>
          </a:xfrm>
          <a:prstGeom prst="roundRect">
            <a:avLst>
              <a:gd name="adj" fmla="val 4167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46304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and a half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× 1.5</a:t>
            </a:r>
            <a:endParaRPr lang="en-US" sz="2000" dirty="0"/>
          </a:p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time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× 2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393192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does Ella earn this week?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Ella's pay for the week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Thursday: $25 × 5 = $125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Saturday: $25 × 1.5 = $37.50 per hour, then $37.50 × 4 = $150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Sunday: $25 × 2 = $50 per hour, then $50 × 6 = $300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$125 + $150 + $300 = $575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315468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315468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this 4 represent?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069080" y="3154680"/>
            <a:ext cx="4617720" cy="868680"/>
          </a:xfrm>
          <a:prstGeom prst="roundRect">
            <a:avLst>
              <a:gd name="adj" fmla="val 8421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06240" y="31546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Ella's Saturday rate $37.50 and not $26.50?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and a half multiplies the base rate</a:t>
            </a:r>
            <a:endParaRPr lang="en-US" sz="2800" dirty="0"/>
          </a:p>
        </p:txBody>
      </p:sp>
      <p:pic>
        <p:nvPicPr>
          <p:cNvPr id="3" name="Image 0" descr="/var/folders/9c/bpqwjkxs5lx9pmncd7cyl1kh0000gn/T/tmp.fFtyL6eOZW/time-and-a-half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77512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3101002"/>
            <a:ext cx="8229600" cy="777240"/>
          </a:xfrm>
          <a:prstGeom prst="roundRect">
            <a:avLst>
              <a:gd name="adj" fmla="val 11765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101002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 × 1.5 = $37.50, not $25 + $1.50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rule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Thursday: $25 × 5</a:t>
            </a:r>
            <a:endParaRPr lang="en-US" sz="3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3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Saturday: $25 × 1.5 × 4</a:t>
            </a:r>
            <a:endParaRPr lang="en-US" sz="3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3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Sunday: $25 × 2 × 6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33832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3383280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 we do the same way on every day?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1143000"/>
          </a:xfrm>
          <a:prstGeom prst="roundRect">
            <a:avLst>
              <a:gd name="adj" fmla="val 8000"/>
            </a:avLst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= base rate × multiplier × hours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77440"/>
          <a:ext cx="68580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463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Ella's café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Multiplier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weekday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Saturday (time and a half)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1.5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Sunday (double time)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holiday (double time and a half)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2.5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2377440"/>
            <a:ext cx="2286000" cy="1463040"/>
          </a:xfrm>
          <a:prstGeom prst="roundRect">
            <a:avLst>
              <a:gd name="adj" fmla="val 5000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37960" y="237744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multiplier does a normal weekday hour have?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do: your turn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rule. Work it out in your book before we check.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3108960"/>
          </a:xfrm>
          <a:prstGeom prst="roundRect">
            <a:avLst>
              <a:gd name="adj" fmla="val 2941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371600"/>
            <a:ext cx="7589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would Ella earn for 3 hours on a public holiday?</a:t>
            </a:r>
            <a:endParaRPr lang="en-US" sz="3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Overtime from a real pay guide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Overtime: hours worked beyond a worker's normal hours, usually paid at a higher rate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Liam works full-time as a food and beverage attendant (Level 1).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68580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2011680"/>
                <a:gridCol w="2011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Hourly pay rate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Overtime - Monday to Friday - first 2 hours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Overtime - Monday to Friday - after 2 hours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 1 food and beverage attendant grade 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$26.44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$39.66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$52.88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Work Ombudsman pay guide: Hospitality Industry (General) Award, adult full-time and part-time, from 1 July 2026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361188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36118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the two overtime headings in everyday words.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Liam's overtime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Liam works 4 hours of overtime on Wednesday.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$26.44 × 1.5 = $39.66 and $26.44 × 2 = $52.88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2 hours: $39.66 × 2 = $79.32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2 hours: $52.88 × 2 = $105.76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Overtime pay: $79.32 + $105.76 = $185.08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4290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34290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can't we just do 4 × $39.66?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common mistake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multiplier is multiplied, never added.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3108960"/>
          </a:xfrm>
          <a:prstGeom prst="roundRect">
            <a:avLst>
              <a:gd name="adj" fmla="val 2941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371600"/>
            <a:ext cx="7589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Jayden's base rate is $22. Is his time-and-a-half rate $23.50 or $33?</a:t>
            </a:r>
            <a:endParaRPr lang="en-US" sz="3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the mistake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Jayden earns $22 per hour. He worked 6 hours on Saturday at time and a half.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280160"/>
          </a:xfrm>
          <a:prstGeom prst="roundRect">
            <a:avLst>
              <a:gd name="adj" fmla="val 7143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Jayden's working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 × 1.5 = $33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$33 + 6 = $39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709160" y="1554480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55448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line is wrong?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709160" y="2267712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2267712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it wrong?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one sentence: </a:t>
            </a:r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“It is wrong because …”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worksheet, on your own. Finished? Try the extension.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1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 </a:t>
            </a:r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Mia's week: Tuesday, Saturday and the Monday public holiday. Find her rate each day and her total pay.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 </a:t>
            </a:r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 was paid $243 for 6 hours on Saturday at time and a half. Find his base hourly rate.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 </a:t>
            </a:r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Liam works 3 hours of overtime on Thursday. Find his overtime pay.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b="1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  </a:t>
            </a:r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and a half, or the normal rate plus a $50 bonus?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FF4C2"/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  </a:t>
            </a:r>
            <a:pPr indent="0" marL="0">
              <a:buNone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same about overtime, Saturday, Sunday and public-holiday pay?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6250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92608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today's rule in your own words.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3291840"/>
          </a:xfrm>
          <a:prstGeom prst="roundRect">
            <a:avLst>
              <a:gd name="adj" fmla="val 2778"/>
            </a:avLst>
          </a:prstGeom>
          <a:solidFill>
            <a:srgbClr val="E7F2F3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97280"/>
            <a:ext cx="7589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the exit ticket on your own, without the rule on the board.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 the success criteria you can now do.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any you cannot tick, write the step that is still unclear.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2: Overtime, Weekend and Public Holiday Pay</dc:title>
  <dc:subject>PptxGenJS Presentation</dc:subject>
  <dc:creator>Chloe Hsieh</dc:creator>
  <cp:lastModifiedBy>Chloe Hsieh</cp:lastModifiedBy>
  <cp:revision>1</cp:revision>
  <dcterms:created xsi:type="dcterms:W3CDTF">2026-10-19T13:41:49Z</dcterms:created>
  <dcterms:modified xsi:type="dcterms:W3CDTF">2026-10-19T13:41:49Z</dcterms:modified>
</cp:coreProperties>
</file>