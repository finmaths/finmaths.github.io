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1. 0.05 × $6,000 = $300, and $400 + $300 = $700. 2. $25 × 1.5 = $37.50 per hour, and $37.50 × 4 = $150.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Not yet. One is per hour and one is per year. We need to know the barista's hours, and we need both jobs over the same time period.
Today's question gets answered by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we are learning today. You will tick these on your exit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annum means per year. A fortnight is two weeks. We use 52 weeks in a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your estimate, then hold up your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 month is not exactly 4 weeks. A year has 52 weeks but only 12 months, so a month is about 52 ÷ 12 ≈ 4.33 weeks. Using 4 weeks leaves out $375 each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Yes, if the barista works 38 hours a week. The office assistant earns $1,125 per week and the barista earns $950, so the office assistant earns $175 more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Yearly $700 × 52 = $36,400. Monthly $36,400 ÷ 12 = $3,033.33.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Fair Work Ombudsman's rules: 4 weeks of paid annual leave for full-time and part-time employees, and none for casuals.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On the normal pay for the whole leave period, which here is 4 weeks.
Expected: No. Casual employees do not get paid annual leave, so there is no leave loading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$18,200 ÷ 52 = $350.
A worker chooses whether to claim the tax-free threshold on the tax file number declaration they give their employer.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$350 a week is about the tax-free amount, so a worker who has claimed the tax-free threshold has no tax taken out. A worker who has not claimed it has tax taken from every week.
In the rest of this lesson every worker has claimed the tax-free threshold, so we use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No. It is the tax withheld from one week's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$36 withheld, net $539.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Less. The tax is taken out, not added: $575 − $36 = $539.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across the correct row. Should net pay be more or less than gross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 $46,800 ÷ 52 = $900. (b) $106 withheld, net $794. (c) $900 × 4 = $3,600, plus 0.175 × $3,600 = $630, total $4,230.
Extension: 52 ÷ 12 ≈ 4.33 weeks, so 4 × weekly pay leaves out about a third of a week's pay each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The office assistant. Gross weekly pay is $1,125 against $950. After tax the office assistant takes home $947 and the barista $828.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in your exit ticket before you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65D"/>
        </a:solidFill>
      </p:bgPr>
    </p:bg>
    <p:spTree>
      <p:nvGrpSpPr>
        <p:cNvPr id="1" name=""/>
        <p:cNvGrpSpPr/>
        <p:nvPr/>
      </p:nvGrpSpPr>
      <p:grpSpPr>
        <a:xfrm>
          <a:off x="0" y="0"/>
          <a:ext cx="0" cy="0"/>
          <a:chOff x="0" y="0"/>
          <a:chExt cx="0" cy="0"/>
        </a:xfrm>
      </p:grpSpPr>
      <p:sp>
        <p:nvSpPr>
          <p:cNvPr id="2" name="Text 0"/>
          <p:cNvSpPr txBox="1"/>
          <p:nvPr/>
        </p:nvSpPr>
        <p:spPr>
          <a:xfrm>
            <a:off x="457200" y="1280160"/>
            <a:ext cx="8229600" cy="10972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From gross pay to take-home pay</a:t>
            </a:r>
            <a:endParaRPr lang="en-US" sz="3600" dirty="0"/>
          </a:p>
        </p:txBody>
      </p:sp>
      <p:sp>
        <p:nvSpPr>
          <p:cNvPr id="3" name="Text 1"/>
          <p:cNvSpPr txBox="1"/>
          <p:nvPr/>
        </p:nvSpPr>
        <p:spPr>
          <a:xfrm>
            <a:off x="457200" y="2514600"/>
            <a:ext cx="8229600" cy="457200"/>
          </a:xfrm>
          <a:prstGeom prst="rect">
            <a:avLst/>
          </a:prstGeom>
          <a:noFill/>
          <a:ln/>
        </p:spPr>
        <p:txBody>
          <a:bodyPr wrap="square" lIns="0" tIns="0" rIns="0" bIns="0" rtlCol="0" anchor="ctr"/>
          <a:lstStyle/>
          <a:p>
            <a:pPr indent="0" marL="0">
              <a:buNone/>
            </a:pPr>
            <a:r>
              <a:rPr lang="en-US" sz="2000" dirty="0">
                <a:solidFill>
                  <a:srgbClr val="CFE3E8"/>
                </a:solidFill>
                <a:latin typeface="Arial" pitchFamily="34" charset="0"/>
                <a:ea typeface="Arial" pitchFamily="34" charset="-122"/>
                <a:cs typeface="Arial" pitchFamily="34" charset="-120"/>
              </a:rPr>
              <a:t>Lesson 3 · Which job pays the most?</a:t>
            </a:r>
            <a:endParaRPr lang="en-US" sz="2000" dirty="0"/>
          </a:p>
        </p:txBody>
      </p:sp>
      <p:sp>
        <p:nvSpPr>
          <p:cNvPr id="4" name="Text 2"/>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400" dirty="0">
                <a:solidFill>
                  <a:srgbClr val="AFC4D6"/>
                </a:solidFill>
                <a:latin typeface="Arial" pitchFamily="34" charset="0"/>
                <a:ea typeface="Arial" pitchFamily="34" charset="-122"/>
                <a:cs typeface="Arial" pitchFamily="34" charset="-120"/>
              </a:rPr>
              <a:t>Year 10 · Financial mathematics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Starter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On your mini whiteboard</a:t>
            </a:r>
            <a:endParaRPr lang="en-US" sz="1400" dirty="0"/>
          </a:p>
        </p:txBody>
      </p:sp>
      <p:sp>
        <p:nvSpPr>
          <p:cNvPr id="4" name="Shape 2"/>
          <p:cNvSpPr/>
          <p:nvPr/>
        </p:nvSpPr>
        <p:spPr>
          <a:xfrm>
            <a:off x="457200" y="1234440"/>
            <a:ext cx="8229600" cy="1554480"/>
          </a:xfrm>
          <a:prstGeom prst="roundRect">
            <a:avLst>
              <a:gd name="adj" fmla="val 5882"/>
            </a:avLst>
          </a:prstGeom>
          <a:solidFill>
            <a:srgbClr val="FFFFFF"/>
          </a:solidFill>
          <a:ln w="12700">
            <a:solidFill>
              <a:srgbClr val="D5DCE4"/>
            </a:solidFill>
            <a:prstDash val="solid"/>
          </a:ln>
        </p:spPr>
      </p:sp>
      <p:sp>
        <p:nvSpPr>
          <p:cNvPr id="5" name="Shape 3"/>
          <p:cNvSpPr/>
          <p:nvPr/>
        </p:nvSpPr>
        <p:spPr>
          <a:xfrm>
            <a:off x="685800" y="1783080"/>
            <a:ext cx="457200" cy="457200"/>
          </a:xfrm>
          <a:prstGeom prst="ellipse">
            <a:avLst/>
          </a:prstGeom>
          <a:solidFill>
            <a:srgbClr val="1F7A8C"/>
          </a:solidFill>
          <a:ln w="12700">
            <a:solidFill>
              <a:srgbClr val="1F7A8C"/>
            </a:solidFill>
            <a:prstDash val="solid"/>
          </a:ln>
        </p:spPr>
      </p:sp>
      <p:sp>
        <p:nvSpPr>
          <p:cNvPr id="6" name="Text 4"/>
          <p:cNvSpPr txBox="1"/>
          <p:nvPr/>
        </p:nvSpPr>
        <p:spPr>
          <a:xfrm>
            <a:off x="685800" y="17830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1371600" y="1234440"/>
            <a:ext cx="7086600" cy="1554480"/>
          </a:xfrm>
          <a:prstGeom prst="rect">
            <a:avLst/>
          </a:prstGeom>
          <a:noFill/>
          <a:ln/>
        </p:spPr>
        <p:txBody>
          <a:bodyPr wrap="square" lIns="0" tIns="0" rIns="0" bIns="0" rtlCol="0" anchor="ctr"/>
          <a:lstStyle/>
          <a:p>
            <a:pPr indent="0" marL="0">
              <a:buNone/>
            </a:pPr>
            <a:r>
              <a:rPr lang="en-US" sz="2200" dirty="0">
                <a:solidFill>
                  <a:srgbClr val="1F2937"/>
                </a:solidFill>
                <a:latin typeface="Arial" pitchFamily="34" charset="0"/>
                <a:ea typeface="Arial" pitchFamily="34" charset="-122"/>
                <a:cs typeface="Arial" pitchFamily="34" charset="-120"/>
              </a:rPr>
              <a:t>Jess earns a $400 retainer plus 5% commission. This week she sold $6,000 of phones. What is her pay?</a:t>
            </a:r>
            <a:endParaRPr lang="en-US" sz="2200" dirty="0"/>
          </a:p>
        </p:txBody>
      </p:sp>
      <p:sp>
        <p:nvSpPr>
          <p:cNvPr id="8" name="Shape 6"/>
          <p:cNvSpPr/>
          <p:nvPr/>
        </p:nvSpPr>
        <p:spPr>
          <a:xfrm>
            <a:off x="457200" y="3017520"/>
            <a:ext cx="8229600" cy="1554480"/>
          </a:xfrm>
          <a:prstGeom prst="roundRect">
            <a:avLst>
              <a:gd name="adj" fmla="val 5882"/>
            </a:avLst>
          </a:prstGeom>
          <a:solidFill>
            <a:srgbClr val="FFFFFF"/>
          </a:solidFill>
          <a:ln w="12700">
            <a:solidFill>
              <a:srgbClr val="D5DCE4"/>
            </a:solidFill>
            <a:prstDash val="solid"/>
          </a:ln>
        </p:spPr>
      </p:sp>
      <p:sp>
        <p:nvSpPr>
          <p:cNvPr id="9" name="Shape 7"/>
          <p:cNvSpPr/>
          <p:nvPr/>
        </p:nvSpPr>
        <p:spPr>
          <a:xfrm>
            <a:off x="685800" y="3566160"/>
            <a:ext cx="457200" cy="457200"/>
          </a:xfrm>
          <a:prstGeom prst="ellipse">
            <a:avLst/>
          </a:prstGeom>
          <a:solidFill>
            <a:srgbClr val="1F7A8C"/>
          </a:solidFill>
          <a:ln w="12700">
            <a:solidFill>
              <a:srgbClr val="1F7A8C"/>
            </a:solidFill>
            <a:prstDash val="solid"/>
          </a:ln>
        </p:spPr>
      </p:sp>
      <p:sp>
        <p:nvSpPr>
          <p:cNvPr id="10" name="Text 8"/>
          <p:cNvSpPr txBox="1"/>
          <p:nvPr/>
        </p:nvSpPr>
        <p:spPr>
          <a:xfrm>
            <a:off x="685800" y="3566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1" name="Text 9"/>
          <p:cNvSpPr txBox="1"/>
          <p:nvPr/>
        </p:nvSpPr>
        <p:spPr>
          <a:xfrm>
            <a:off x="1371600" y="3017520"/>
            <a:ext cx="7086600" cy="1554480"/>
          </a:xfrm>
          <a:prstGeom prst="rect">
            <a:avLst/>
          </a:prstGeom>
          <a:noFill/>
          <a:ln/>
        </p:spPr>
        <p:txBody>
          <a:bodyPr wrap="square" lIns="0" tIns="0" rIns="0" bIns="0" rtlCol="0" anchor="ctr"/>
          <a:lstStyle/>
          <a:p>
            <a:pPr indent="0" marL="0">
              <a:buNone/>
            </a:pPr>
            <a:r>
              <a:rPr lang="en-US" sz="2200" dirty="0">
                <a:solidFill>
                  <a:srgbClr val="1F2937"/>
                </a:solidFill>
                <a:latin typeface="Arial" pitchFamily="34" charset="0"/>
                <a:ea typeface="Arial" pitchFamily="34" charset="-122"/>
                <a:cs typeface="Arial" pitchFamily="34" charset="-120"/>
              </a:rPr>
              <a:t>Ella's base rate is $25. How much does she earn for 4 hours on Saturday at time and a half?</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Today's question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From the Lesson 1 job ads</a:t>
            </a:r>
            <a:endParaRPr lang="en-US" sz="1400" dirty="0"/>
          </a:p>
        </p:txBody>
      </p:sp>
      <p:sp>
        <p:nvSpPr>
          <p:cNvPr id="4" name="Shape 2"/>
          <p:cNvSpPr/>
          <p:nvPr/>
        </p:nvSpPr>
        <p:spPr>
          <a:xfrm>
            <a:off x="457200" y="1234440"/>
            <a:ext cx="8229600" cy="1828800"/>
          </a:xfrm>
          <a:prstGeom prst="roundRect">
            <a:avLst>
              <a:gd name="adj" fmla="val 5000"/>
            </a:avLst>
          </a:prstGeom>
          <a:solidFill>
            <a:srgbClr val="E7F2F3"/>
          </a:solidFill>
          <a:ln w="12700">
            <a:solidFill>
              <a:srgbClr val="D5DCE4"/>
            </a:solidFill>
            <a:prstDash val="solid"/>
          </a:ln>
        </p:spPr>
      </p:sp>
      <p:sp>
        <p:nvSpPr>
          <p:cNvPr id="5" name="Text 3"/>
          <p:cNvSpPr txBox="1"/>
          <p:nvPr/>
        </p:nvSpPr>
        <p:spPr>
          <a:xfrm>
            <a:off x="777240" y="1234440"/>
            <a:ext cx="7589520" cy="1828800"/>
          </a:xfrm>
          <a:prstGeom prst="rect">
            <a:avLst/>
          </a:prstGeom>
          <a:noFill/>
          <a:ln/>
        </p:spPr>
        <p:txBody>
          <a:bodyPr wrap="square" lIns="0" tIns="0" rIns="0" bIns="0" rtlCol="0" anchor="ctr"/>
          <a:lstStyle/>
          <a:p>
            <a:pPr indent="0" marL="0">
              <a:buNone/>
            </a:pPr>
            <a:r>
              <a:rPr lang="en-US" sz="2600" dirty="0">
                <a:solidFill>
                  <a:srgbClr val="1F2937"/>
                </a:solidFill>
                <a:latin typeface="Arial" pitchFamily="34" charset="0"/>
                <a:ea typeface="Arial" pitchFamily="34" charset="-122"/>
                <a:cs typeface="Arial" pitchFamily="34" charset="-120"/>
              </a:rPr>
              <a:t>The barista earns $25 per hour. The office assistant earns $58,500 p.a. Which one earns more?</a:t>
            </a:r>
            <a:endParaRPr lang="en-US" sz="2600" dirty="0"/>
          </a:p>
        </p:txBody>
      </p:sp>
      <p:sp>
        <p:nvSpPr>
          <p:cNvPr id="6" name="Shape 4"/>
          <p:cNvSpPr/>
          <p:nvPr/>
        </p:nvSpPr>
        <p:spPr>
          <a:xfrm>
            <a:off x="457200" y="3337560"/>
            <a:ext cx="8229600" cy="868680"/>
          </a:xfrm>
          <a:prstGeom prst="roundRect">
            <a:avLst>
              <a:gd name="adj" fmla="val 8421"/>
            </a:avLst>
          </a:prstGeom>
          <a:solidFill>
            <a:srgbClr val="FFF4C2"/>
          </a:solidFill>
          <a:ln w="12700">
            <a:solidFill>
              <a:srgbClr val="E8C547"/>
            </a:solidFill>
            <a:prstDash val="solid"/>
          </a:ln>
        </p:spPr>
      </p:sp>
      <p:sp>
        <p:nvSpPr>
          <p:cNvPr id="7" name="Text 5"/>
          <p:cNvSpPr txBox="1"/>
          <p:nvPr/>
        </p:nvSpPr>
        <p:spPr>
          <a:xfrm>
            <a:off x="594360" y="3337560"/>
            <a:ext cx="7955280" cy="868680"/>
          </a:xfrm>
          <a:prstGeom prst="rect">
            <a:avLst/>
          </a:prstGeom>
          <a:noFill/>
          <a:ln/>
        </p:spPr>
        <p:txBody>
          <a:bodyPr wrap="square" lIns="0" tIns="0" rIns="0" bIns="0" rtlCol="0" anchor="ctr"/>
          <a:lstStyle/>
          <a:p>
            <a:pPr indent="0" marL="0">
              <a:buNone/>
            </a:pPr>
            <a:r>
              <a:rPr lang="en-US" sz="2000" b="1" dirty="0">
                <a:solidFill>
                  <a:srgbClr val="17365D"/>
                </a:solidFill>
                <a:latin typeface="Arial" pitchFamily="34" charset="0"/>
                <a:ea typeface="Arial" pitchFamily="34" charset="-122"/>
                <a:cs typeface="Arial" pitchFamily="34" charset="-120"/>
              </a:rPr>
              <a:t>Key question  </a:t>
            </a:r>
            <a:pPr indent="0" marL="0">
              <a:buNone/>
            </a:pPr>
            <a:r>
              <a:rPr lang="en-US" sz="2000" dirty="0">
                <a:solidFill>
                  <a:srgbClr val="1F2937"/>
                </a:solidFill>
                <a:latin typeface="Arial" pitchFamily="34" charset="0"/>
                <a:ea typeface="Arial" pitchFamily="34" charset="-122"/>
                <a:cs typeface="Arial" pitchFamily="34" charset="-120"/>
              </a:rPr>
              <a:t>Can we answer today's question yet? What is stopping us?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Today</a:t>
            </a:r>
            <a:endParaRPr lang="en-US" sz="2800" dirty="0"/>
          </a:p>
        </p:txBody>
      </p:sp>
      <p:sp>
        <p:nvSpPr>
          <p:cNvPr id="3" name="Shape 1"/>
          <p:cNvSpPr/>
          <p:nvPr/>
        </p:nvSpPr>
        <p:spPr>
          <a:xfrm>
            <a:off x="457200" y="960120"/>
            <a:ext cx="8229600" cy="777240"/>
          </a:xfrm>
          <a:prstGeom prst="roundRect">
            <a:avLst>
              <a:gd name="adj" fmla="val 11765"/>
            </a:avLst>
          </a:prstGeom>
          <a:solidFill>
            <a:srgbClr val="E7F2F3"/>
          </a:solidFill>
          <a:ln w="12700">
            <a:solidFill>
              <a:srgbClr val="D5DCE4"/>
            </a:solidFill>
            <a:prstDash val="solid"/>
          </a:ln>
        </p:spPr>
      </p:sp>
      <p:sp>
        <p:nvSpPr>
          <p:cNvPr id="4" name="Text 2"/>
          <p:cNvSpPr txBox="1"/>
          <p:nvPr/>
        </p:nvSpPr>
        <p:spPr>
          <a:xfrm>
            <a:off x="640080" y="960120"/>
            <a:ext cx="7863840" cy="777240"/>
          </a:xfrm>
          <a:prstGeom prst="rect">
            <a:avLst/>
          </a:prstGeom>
          <a:noFill/>
          <a:ln/>
        </p:spPr>
        <p:txBody>
          <a:bodyPr wrap="square" lIns="0" tIns="0" rIns="0" bIns="0" rtlCol="0" anchor="ctr"/>
          <a:lstStyle/>
          <a:p>
            <a:pPr indent="0" marL="0">
              <a:buNone/>
            </a:pPr>
            <a:r>
              <a:rPr lang="en-US" sz="1600" b="1" dirty="0">
                <a:solidFill>
                  <a:srgbClr val="17365D"/>
                </a:solidFill>
                <a:latin typeface="Arial" pitchFamily="34" charset="0"/>
                <a:ea typeface="Arial" pitchFamily="34" charset="-122"/>
                <a:cs typeface="Arial" pitchFamily="34" charset="-120"/>
              </a:rPr>
              <a:t>Learning intention  </a:t>
            </a:r>
            <a:pPr indent="0" marL="0">
              <a:buNone/>
            </a:pPr>
            <a:r>
              <a:rPr lang="en-US" sz="1600" dirty="0">
                <a:solidFill>
                  <a:srgbClr val="1F2937"/>
                </a:solidFill>
                <a:latin typeface="Arial" pitchFamily="34" charset="0"/>
                <a:ea typeface="Arial" pitchFamily="34" charset="-122"/>
                <a:cs typeface="Arial" pitchFamily="34" charset="-120"/>
              </a:rPr>
              <a:t>We are learning to </a:t>
            </a:r>
            <a:pPr indent="0" marL="0">
              <a:buNone/>
            </a:pPr>
            <a:r>
              <a:rPr lang="en-US" sz="1600" b="1" dirty="0">
                <a:solidFill>
                  <a:srgbClr val="1F2937"/>
                </a:solidFill>
                <a:latin typeface="Arial" pitchFamily="34" charset="0"/>
                <a:ea typeface="Arial" pitchFamily="34" charset="-122"/>
                <a:cs typeface="Arial" pitchFamily="34" charset="-120"/>
              </a:rPr>
              <a:t>convert</a:t>
            </a:r>
            <a:pPr indent="0" marL="0">
              <a:buNone/>
            </a:pPr>
            <a:r>
              <a:rPr lang="en-US" sz="1600" dirty="0">
                <a:solidFill>
                  <a:srgbClr val="1F2937"/>
                </a:solidFill>
                <a:latin typeface="Arial" pitchFamily="34" charset="0"/>
                <a:ea typeface="Arial" pitchFamily="34" charset="-122"/>
                <a:cs typeface="Arial" pitchFamily="34" charset="-120"/>
              </a:rPr>
              <a:t> pay between time periods, </a:t>
            </a:r>
            <a:pPr indent="0" marL="0">
              <a:buNone/>
            </a:pPr>
            <a:r>
              <a:rPr lang="en-US" sz="1600" b="1" dirty="0">
                <a:solidFill>
                  <a:srgbClr val="1F2937"/>
                </a:solidFill>
                <a:latin typeface="Arial" pitchFamily="34" charset="0"/>
                <a:ea typeface="Arial" pitchFamily="34" charset="-122"/>
                <a:cs typeface="Arial" pitchFamily="34" charset="-120"/>
              </a:rPr>
              <a:t>calculate</a:t>
            </a:r>
            <a:pPr indent="0" marL="0">
              <a:buNone/>
            </a:pPr>
            <a:r>
              <a:rPr lang="en-US" sz="1600" dirty="0">
                <a:solidFill>
                  <a:srgbClr val="1F2937"/>
                </a:solidFill>
                <a:latin typeface="Arial" pitchFamily="34" charset="0"/>
                <a:ea typeface="Arial" pitchFamily="34" charset="-122"/>
                <a:cs typeface="Arial" pitchFamily="34" charset="-120"/>
              </a:rPr>
              <a:t> leave loading, and </a:t>
            </a:r>
            <a:pPr indent="0" marL="0">
              <a:buNone/>
            </a:pPr>
            <a:r>
              <a:rPr lang="en-US" sz="1600" b="1" dirty="0">
                <a:solidFill>
                  <a:srgbClr val="1F2937"/>
                </a:solidFill>
                <a:latin typeface="Arial" pitchFamily="34" charset="0"/>
                <a:ea typeface="Arial" pitchFamily="34" charset="-122"/>
                <a:cs typeface="Arial" pitchFamily="34" charset="-120"/>
              </a:rPr>
              <a:t>use</a:t>
            </a:r>
            <a:pPr indent="0" marL="0">
              <a:buNone/>
            </a:pPr>
            <a:r>
              <a:rPr lang="en-US" sz="1600" dirty="0">
                <a:solidFill>
                  <a:srgbClr val="1F2937"/>
                </a:solidFill>
                <a:latin typeface="Arial" pitchFamily="34" charset="0"/>
                <a:ea typeface="Arial" pitchFamily="34" charset="-122"/>
                <a:cs typeface="Arial" pitchFamily="34" charset="-120"/>
              </a:rPr>
              <a:t> the ATO tax table to work out net pay.</a:t>
            </a:r>
            <a:endParaRPr lang="en-US" sz="1600" dirty="0"/>
          </a:p>
        </p:txBody>
      </p:sp>
      <p:sp>
        <p:nvSpPr>
          <p:cNvPr id="5" name="Text 3"/>
          <p:cNvSpPr txBox="1"/>
          <p:nvPr/>
        </p:nvSpPr>
        <p:spPr>
          <a:xfrm>
            <a:off x="457200" y="1920240"/>
            <a:ext cx="3657600" cy="365760"/>
          </a:xfrm>
          <a:prstGeom prst="rect">
            <a:avLst/>
          </a:prstGeom>
          <a:noFill/>
          <a:ln/>
        </p:spPr>
        <p:txBody>
          <a:bodyPr wrap="square" lIns="0" tIns="0" rIns="0" bIns="0" rtlCol="0" anchor="ctr"/>
          <a:lstStyle/>
          <a:p>
            <a:pPr indent="0" marL="0">
              <a:buNone/>
            </a:pPr>
            <a:r>
              <a:rPr lang="en-US" sz="1700" b="1" dirty="0">
                <a:solidFill>
                  <a:srgbClr val="17365D"/>
                </a:solidFill>
                <a:latin typeface="Arial" pitchFamily="34" charset="0"/>
                <a:ea typeface="Arial" pitchFamily="34" charset="-122"/>
                <a:cs typeface="Arial" pitchFamily="34" charset="-120"/>
              </a:rPr>
              <a:t>Success criteria</a:t>
            </a:r>
            <a:endParaRPr lang="en-US" sz="1700" dirty="0"/>
          </a:p>
        </p:txBody>
      </p:sp>
      <p:sp>
        <p:nvSpPr>
          <p:cNvPr id="6" name="Shape 4"/>
          <p:cNvSpPr/>
          <p:nvPr/>
        </p:nvSpPr>
        <p:spPr>
          <a:xfrm>
            <a:off x="457200" y="2450592"/>
            <a:ext cx="237744" cy="237744"/>
          </a:xfrm>
          <a:prstGeom prst="rect">
            <a:avLst/>
          </a:prstGeom>
          <a:solidFill>
            <a:srgbClr val="FFFFFF"/>
          </a:solidFill>
          <a:ln w="19050">
            <a:solidFill>
              <a:srgbClr val="17365D"/>
            </a:solidFill>
            <a:prstDash val="solid"/>
          </a:ln>
        </p:spPr>
      </p:sp>
      <p:sp>
        <p:nvSpPr>
          <p:cNvPr id="7" name="Text 5"/>
          <p:cNvSpPr txBox="1"/>
          <p:nvPr/>
        </p:nvSpPr>
        <p:spPr>
          <a:xfrm>
            <a:off x="841248" y="2359152"/>
            <a:ext cx="7845552" cy="566928"/>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I can </a:t>
            </a:r>
            <a:pPr indent="0" marL="0">
              <a:buNone/>
            </a:pPr>
            <a:r>
              <a:rPr lang="en-US" sz="1500" b="1" dirty="0">
                <a:solidFill>
                  <a:srgbClr val="1F2937"/>
                </a:solidFill>
                <a:latin typeface="Arial" pitchFamily="34" charset="0"/>
                <a:ea typeface="Arial" pitchFamily="34" charset="-122"/>
                <a:cs typeface="Arial" pitchFamily="34" charset="-120"/>
              </a:rPr>
              <a:t>convert</a:t>
            </a:r>
            <a:pPr indent="0" marL="0">
              <a:buNone/>
            </a:pPr>
            <a:r>
              <a:rPr lang="en-US" sz="1500" dirty="0">
                <a:solidFill>
                  <a:srgbClr val="1F2937"/>
                </a:solidFill>
                <a:latin typeface="Arial" pitchFamily="34" charset="0"/>
                <a:ea typeface="Arial" pitchFamily="34" charset="-122"/>
                <a:cs typeface="Arial" pitchFamily="34" charset="-120"/>
              </a:rPr>
              <a:t> pay between weekly, fortnightly, monthly and yearly amounts using 1 year = 52 weeks, and </a:t>
            </a:r>
            <a:pPr indent="0" marL="0">
              <a:buNone/>
            </a:pPr>
            <a:r>
              <a:rPr lang="en-US" sz="1500" b="1" dirty="0">
                <a:solidFill>
                  <a:srgbClr val="1F2937"/>
                </a:solidFill>
                <a:latin typeface="Arial" pitchFamily="34" charset="0"/>
                <a:ea typeface="Arial" pitchFamily="34" charset="-122"/>
                <a:cs typeface="Arial" pitchFamily="34" charset="-120"/>
              </a:rPr>
              <a:t>explain</a:t>
            </a:r>
            <a:pPr indent="0" marL="0">
              <a:buNone/>
            </a:pPr>
            <a:r>
              <a:rPr lang="en-US" sz="1500" dirty="0">
                <a:solidFill>
                  <a:srgbClr val="1F2937"/>
                </a:solidFill>
                <a:latin typeface="Arial" pitchFamily="34" charset="0"/>
                <a:ea typeface="Arial" pitchFamily="34" charset="-122"/>
                <a:cs typeface="Arial" pitchFamily="34" charset="-120"/>
              </a:rPr>
              <a:t> why monthly pay is not 4 × weekly pay</a:t>
            </a:r>
            <a:endParaRPr lang="en-US" sz="1500" dirty="0"/>
          </a:p>
        </p:txBody>
      </p:sp>
      <p:sp>
        <p:nvSpPr>
          <p:cNvPr id="8" name="Shape 6"/>
          <p:cNvSpPr/>
          <p:nvPr/>
        </p:nvSpPr>
        <p:spPr>
          <a:xfrm>
            <a:off x="457200" y="3072384"/>
            <a:ext cx="237744" cy="237744"/>
          </a:xfrm>
          <a:prstGeom prst="rect">
            <a:avLst/>
          </a:prstGeom>
          <a:solidFill>
            <a:srgbClr val="FFFFFF"/>
          </a:solidFill>
          <a:ln w="19050">
            <a:solidFill>
              <a:srgbClr val="17365D"/>
            </a:solidFill>
            <a:prstDash val="solid"/>
          </a:ln>
        </p:spPr>
      </p:sp>
      <p:sp>
        <p:nvSpPr>
          <p:cNvPr id="9" name="Text 7"/>
          <p:cNvSpPr txBox="1"/>
          <p:nvPr/>
        </p:nvSpPr>
        <p:spPr>
          <a:xfrm>
            <a:off x="841248" y="2980944"/>
            <a:ext cx="7845552" cy="566928"/>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I can </a:t>
            </a:r>
            <a:pPr indent="0" marL="0">
              <a:buNone/>
            </a:pPr>
            <a:r>
              <a:rPr lang="en-US" sz="1500" b="1" dirty="0">
                <a:solidFill>
                  <a:srgbClr val="1F2937"/>
                </a:solidFill>
                <a:latin typeface="Arial" pitchFamily="34" charset="0"/>
                <a:ea typeface="Arial" pitchFamily="34" charset="-122"/>
                <a:cs typeface="Arial" pitchFamily="34" charset="-120"/>
              </a:rPr>
              <a:t>calculate</a:t>
            </a:r>
            <a:pPr indent="0" marL="0">
              <a:buNone/>
            </a:pPr>
            <a:r>
              <a:rPr lang="en-US" sz="1500" dirty="0">
                <a:solidFill>
                  <a:srgbClr val="1F2937"/>
                </a:solidFill>
                <a:latin typeface="Arial" pitchFamily="34" charset="0"/>
                <a:ea typeface="Arial" pitchFamily="34" charset="-122"/>
                <a:cs typeface="Arial" pitchFamily="34" charset="-120"/>
              </a:rPr>
              <a:t> leave loading as a percentage of normal pay for the leave period</a:t>
            </a:r>
            <a:endParaRPr lang="en-US" sz="1500" dirty="0"/>
          </a:p>
        </p:txBody>
      </p:sp>
      <p:sp>
        <p:nvSpPr>
          <p:cNvPr id="10" name="Shape 8"/>
          <p:cNvSpPr/>
          <p:nvPr/>
        </p:nvSpPr>
        <p:spPr>
          <a:xfrm>
            <a:off x="457200" y="3694176"/>
            <a:ext cx="237744" cy="237744"/>
          </a:xfrm>
          <a:prstGeom prst="rect">
            <a:avLst/>
          </a:prstGeom>
          <a:solidFill>
            <a:srgbClr val="FFFFFF"/>
          </a:solidFill>
          <a:ln w="19050">
            <a:solidFill>
              <a:srgbClr val="17365D"/>
            </a:solidFill>
            <a:prstDash val="solid"/>
          </a:ln>
        </p:spPr>
      </p:sp>
      <p:sp>
        <p:nvSpPr>
          <p:cNvPr id="11" name="Text 9"/>
          <p:cNvSpPr txBox="1"/>
          <p:nvPr/>
        </p:nvSpPr>
        <p:spPr>
          <a:xfrm>
            <a:off x="841248" y="3602736"/>
            <a:ext cx="7845552" cy="566928"/>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I can </a:t>
            </a:r>
            <a:pPr indent="0" marL="0">
              <a:buNone/>
            </a:pPr>
            <a:r>
              <a:rPr lang="en-US" sz="1500" b="1" dirty="0">
                <a:solidFill>
                  <a:srgbClr val="1F2937"/>
                </a:solidFill>
                <a:latin typeface="Arial" pitchFamily="34" charset="0"/>
                <a:ea typeface="Arial" pitchFamily="34" charset="-122"/>
                <a:cs typeface="Arial" pitchFamily="34" charset="-120"/>
              </a:rPr>
              <a:t>read</a:t>
            </a:r>
            <a:pPr indent="0" marL="0">
              <a:buNone/>
            </a:pPr>
            <a:r>
              <a:rPr lang="en-US" sz="1500" dirty="0">
                <a:solidFill>
                  <a:srgbClr val="1F2937"/>
                </a:solidFill>
                <a:latin typeface="Arial" pitchFamily="34" charset="0"/>
                <a:ea typeface="Arial" pitchFamily="34" charset="-122"/>
                <a:cs typeface="Arial" pitchFamily="34" charset="-120"/>
              </a:rPr>
              <a:t> the ATO weekly tax table to find the tax withheld</a:t>
            </a:r>
            <a:endParaRPr lang="en-US" sz="1500" dirty="0"/>
          </a:p>
        </p:txBody>
      </p:sp>
      <p:sp>
        <p:nvSpPr>
          <p:cNvPr id="12" name="Shape 10"/>
          <p:cNvSpPr/>
          <p:nvPr/>
        </p:nvSpPr>
        <p:spPr>
          <a:xfrm>
            <a:off x="457200" y="4315968"/>
            <a:ext cx="237744" cy="237744"/>
          </a:xfrm>
          <a:prstGeom prst="rect">
            <a:avLst/>
          </a:prstGeom>
          <a:solidFill>
            <a:srgbClr val="FFFFFF"/>
          </a:solidFill>
          <a:ln w="19050">
            <a:solidFill>
              <a:srgbClr val="17365D"/>
            </a:solidFill>
            <a:prstDash val="solid"/>
          </a:ln>
        </p:spPr>
      </p:sp>
      <p:sp>
        <p:nvSpPr>
          <p:cNvPr id="13" name="Text 11"/>
          <p:cNvSpPr txBox="1"/>
          <p:nvPr/>
        </p:nvSpPr>
        <p:spPr>
          <a:xfrm>
            <a:off x="841248" y="4224528"/>
            <a:ext cx="7845552" cy="566928"/>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I can </a:t>
            </a:r>
            <a:pPr indent="0" marL="0">
              <a:buNone/>
            </a:pPr>
            <a:r>
              <a:rPr lang="en-US" sz="1500" b="1" dirty="0">
                <a:solidFill>
                  <a:srgbClr val="1F2937"/>
                </a:solidFill>
                <a:latin typeface="Arial" pitchFamily="34" charset="0"/>
                <a:ea typeface="Arial" pitchFamily="34" charset="-122"/>
                <a:cs typeface="Arial" pitchFamily="34" charset="-120"/>
              </a:rPr>
              <a:t>calculate</a:t>
            </a:r>
            <a:pPr indent="0" marL="0">
              <a:buNone/>
            </a:pPr>
            <a:r>
              <a:rPr lang="en-US" sz="1500" dirty="0">
                <a:solidFill>
                  <a:srgbClr val="1F2937"/>
                </a:solidFill>
                <a:latin typeface="Arial" pitchFamily="34" charset="0"/>
                <a:ea typeface="Arial" pitchFamily="34" charset="-122"/>
                <a:cs typeface="Arial" pitchFamily="34" charset="-120"/>
              </a:rPr>
              <a:t> net pay by subtracting the tax withheld from gross pay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Converting pay periods</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Office assistant: $58,500 per annum (p.a.)</a:t>
            </a:r>
            <a:endParaRPr lang="en-US" sz="1400" dirty="0"/>
          </a:p>
        </p:txBody>
      </p:sp>
      <p:sp>
        <p:nvSpPr>
          <p:cNvPr id="4" name="Shape 2"/>
          <p:cNvSpPr/>
          <p:nvPr/>
        </p:nvSpPr>
        <p:spPr>
          <a:xfrm>
            <a:off x="457200" y="1234440"/>
            <a:ext cx="3017520" cy="1371600"/>
          </a:xfrm>
          <a:prstGeom prst="roundRect">
            <a:avLst>
              <a:gd name="adj" fmla="val 6667"/>
            </a:avLst>
          </a:prstGeom>
          <a:solidFill>
            <a:srgbClr val="E7F2F3"/>
          </a:solidFill>
          <a:ln w="12700">
            <a:solidFill>
              <a:srgbClr val="D5DCE4"/>
            </a:solidFill>
            <a:prstDash val="solid"/>
          </a:ln>
        </p:spPr>
      </p:sp>
      <p:sp>
        <p:nvSpPr>
          <p:cNvPr id="5" name="Text 3"/>
          <p:cNvSpPr txBox="1"/>
          <p:nvPr/>
        </p:nvSpPr>
        <p:spPr>
          <a:xfrm>
            <a:off x="685800" y="1234440"/>
            <a:ext cx="2651760" cy="1371600"/>
          </a:xfrm>
          <a:prstGeom prst="rect">
            <a:avLst/>
          </a:prstGeom>
          <a:noFill/>
          <a:ln/>
        </p:spPr>
        <p:txBody>
          <a:bodyPr wrap="square" lIns="0" tIns="0" rIns="0" bIns="0" rtlCol="0" anchor="ctr"/>
          <a:lstStyle/>
          <a:p>
            <a:pPr indent="0" marL="0">
              <a:buNone/>
            </a:pPr>
            <a:r>
              <a:rPr lang="en-US" sz="2000" b="1" dirty="0">
                <a:solidFill>
                  <a:srgbClr val="17365D"/>
                </a:solidFill>
                <a:latin typeface="Arial" pitchFamily="34" charset="0"/>
                <a:ea typeface="Arial" pitchFamily="34" charset="-122"/>
                <a:cs typeface="Arial" pitchFamily="34" charset="-120"/>
              </a:rPr>
              <a:t>1 year = 52 weeks</a:t>
            </a:r>
            <a:endParaRPr lang="en-US" sz="2000" dirty="0"/>
          </a:p>
          <a:p>
            <a:pPr indent="0" marL="0">
              <a:buNone/>
            </a:pPr>
            <a:r>
              <a:rPr lang="en-US" sz="2000" b="1" dirty="0">
                <a:solidFill>
                  <a:srgbClr val="17365D"/>
                </a:solidFill>
                <a:latin typeface="Arial" pitchFamily="34" charset="0"/>
                <a:ea typeface="Arial" pitchFamily="34" charset="-122"/>
                <a:cs typeface="Arial" pitchFamily="34" charset="-120"/>
              </a:rPr>
              <a:t>1 fortnight = 2 weeks</a:t>
            </a:r>
            <a:endParaRPr lang="en-US" sz="2000" dirty="0"/>
          </a:p>
        </p:txBody>
      </p:sp>
      <p:sp>
        <p:nvSpPr>
          <p:cNvPr id="6" name="Text 4"/>
          <p:cNvSpPr txBox="1"/>
          <p:nvPr/>
        </p:nvSpPr>
        <p:spPr>
          <a:xfrm>
            <a:off x="3840480" y="1371600"/>
            <a:ext cx="4846320" cy="822960"/>
          </a:xfrm>
          <a:prstGeom prst="rect">
            <a:avLst/>
          </a:prstGeom>
          <a:noFill/>
          <a:ln/>
        </p:spPr>
        <p:txBody>
          <a:bodyPr wrap="square" lIns="0" tIns="0" rIns="0" bIns="0" rtlCol="0" anchor="t"/>
          <a:lstStyle/>
          <a:p>
            <a:pPr indent="0" marL="0">
              <a:spcAft>
                <a:spcPts val="600"/>
              </a:spcAft>
              <a:buNone/>
            </a:pPr>
            <a:r>
              <a:rPr lang="en-US" sz="2200" dirty="0">
                <a:solidFill>
                  <a:srgbClr val="1F2937"/>
                </a:solidFill>
                <a:latin typeface="Arial" pitchFamily="34" charset="0"/>
                <a:ea typeface="Arial" pitchFamily="34" charset="-122"/>
                <a:cs typeface="Arial" pitchFamily="34" charset="-120"/>
              </a:rPr>
              <a:t>Weekly: $58,500 ÷ 52 = $1,125</a:t>
            </a:r>
            <a:endParaRPr lang="en-US" sz="2200" dirty="0"/>
          </a:p>
          <a:p>
            <a:pPr indent="0" marL="0">
              <a:spcAft>
                <a:spcPts val="600"/>
              </a:spcAft>
              <a:buNone/>
            </a:pPr>
            <a:r>
              <a:rPr lang="en-US" sz="2200" b="1" dirty="0">
                <a:solidFill>
                  <a:srgbClr val="1F2937"/>
                </a:solidFill>
                <a:latin typeface="Arial" pitchFamily="34" charset="0"/>
                <a:ea typeface="Arial" pitchFamily="34" charset="-122"/>
                <a:cs typeface="Arial" pitchFamily="34" charset="-120"/>
              </a:rPr>
              <a:t>Fortnightly: $1,125 × 2 = $2,250</a:t>
            </a:r>
            <a:endParaRPr lang="en-US" sz="2200" dirty="0"/>
          </a:p>
        </p:txBody>
      </p:sp>
      <p:sp>
        <p:nvSpPr>
          <p:cNvPr id="7" name="Text 5"/>
          <p:cNvSpPr txBox="1"/>
          <p:nvPr/>
        </p:nvSpPr>
        <p:spPr>
          <a:xfrm>
            <a:off x="457200" y="3108960"/>
            <a:ext cx="8229600" cy="457200"/>
          </a:xfrm>
          <a:prstGeom prst="rect">
            <a:avLst/>
          </a:prstGeom>
          <a:noFill/>
          <a:ln/>
        </p:spPr>
        <p:txBody>
          <a:bodyPr wrap="square" lIns="0" tIns="0" rIns="0" bIns="0" rtlCol="0" anchor="ctr"/>
          <a:lstStyle/>
          <a:p>
            <a:pPr indent="0" marL="0">
              <a:buNone/>
            </a:pPr>
            <a:r>
              <a:rPr lang="en-US" sz="1800" b="1" dirty="0">
                <a:solidFill>
                  <a:srgbClr val="1F7A8C"/>
                </a:solidFill>
                <a:latin typeface="Arial" pitchFamily="34" charset="0"/>
                <a:ea typeface="Arial" pitchFamily="34" charset="-122"/>
                <a:cs typeface="Arial" pitchFamily="34" charset="-120"/>
              </a:rPr>
              <a:t>Pay words  </a:t>
            </a:r>
            <a:pPr indent="0" marL="0">
              <a:buNone/>
            </a:pPr>
            <a:r>
              <a:rPr lang="en-US" sz="1800" dirty="0">
                <a:solidFill>
                  <a:srgbClr val="1F2937"/>
                </a:solidFill>
                <a:latin typeface="Arial" pitchFamily="34" charset="0"/>
                <a:ea typeface="Arial" pitchFamily="34" charset="-122"/>
                <a:cs typeface="Arial" pitchFamily="34" charset="-120"/>
              </a:rPr>
              <a:t>per annum (p.a.) · fortnight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Estimate first</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On your mini whiteboard. Hold it up when I ask.</a:t>
            </a:r>
            <a:endParaRPr lang="en-US" sz="1400" dirty="0"/>
          </a:p>
        </p:txBody>
      </p:sp>
      <p:sp>
        <p:nvSpPr>
          <p:cNvPr id="4" name="Shape 2"/>
          <p:cNvSpPr/>
          <p:nvPr/>
        </p:nvSpPr>
        <p:spPr>
          <a:xfrm>
            <a:off x="457200" y="1371600"/>
            <a:ext cx="8229600" cy="2377440"/>
          </a:xfrm>
          <a:prstGeom prst="roundRect">
            <a:avLst>
              <a:gd name="adj" fmla="val 3846"/>
            </a:avLst>
          </a:prstGeom>
          <a:solidFill>
            <a:srgbClr val="E7F2F3"/>
          </a:solidFill>
          <a:ln w="12700">
            <a:solidFill>
              <a:srgbClr val="D5DCE4"/>
            </a:solidFill>
            <a:prstDash val="solid"/>
          </a:ln>
        </p:spPr>
      </p:sp>
      <p:sp>
        <p:nvSpPr>
          <p:cNvPr id="5" name="Text 3"/>
          <p:cNvSpPr txBox="1"/>
          <p:nvPr/>
        </p:nvSpPr>
        <p:spPr>
          <a:xfrm>
            <a:off x="777240" y="1371600"/>
            <a:ext cx="7589520" cy="2377440"/>
          </a:xfrm>
          <a:prstGeom prst="rect">
            <a:avLst/>
          </a:prstGeom>
          <a:noFill/>
          <a:ln/>
        </p:spPr>
        <p:txBody>
          <a:bodyPr wrap="square" lIns="0" tIns="0" rIns="0" bIns="0" rtlCol="0" anchor="ctr"/>
          <a:lstStyle/>
          <a:p>
            <a:pPr indent="0" marL="0">
              <a:buNone/>
            </a:pPr>
            <a:r>
              <a:rPr lang="en-US" sz="3200" dirty="0">
                <a:solidFill>
                  <a:srgbClr val="1F2937"/>
                </a:solidFill>
                <a:latin typeface="Arial" pitchFamily="34" charset="0"/>
                <a:ea typeface="Arial" pitchFamily="34" charset="-122"/>
                <a:cs typeface="Arial" pitchFamily="34" charset="-120"/>
              </a:rPr>
              <a:t>Estimate the office assistant's monthly pay.</a:t>
            </a: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Monthly pay</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There are 12 months in a year</a:t>
            </a:r>
            <a:endParaRPr lang="en-US" sz="1400" dirty="0"/>
          </a:p>
        </p:txBody>
      </p:sp>
      <p:sp>
        <p:nvSpPr>
          <p:cNvPr id="4" name="Shape 2"/>
          <p:cNvSpPr/>
          <p:nvPr/>
        </p:nvSpPr>
        <p:spPr>
          <a:xfrm>
            <a:off x="457200" y="1234440"/>
            <a:ext cx="3977640" cy="1371600"/>
          </a:xfrm>
          <a:prstGeom prst="roundRect">
            <a:avLst>
              <a:gd name="adj" fmla="val 6667"/>
            </a:avLst>
          </a:prstGeom>
          <a:solidFill>
            <a:srgbClr val="FFFFFF"/>
          </a:solidFill>
          <a:ln w="12700">
            <a:solidFill>
              <a:srgbClr val="D5DCE4"/>
            </a:solidFill>
            <a:prstDash val="solid"/>
          </a:ln>
        </p:spPr>
      </p:sp>
      <p:sp>
        <p:nvSpPr>
          <p:cNvPr id="5" name="Text 3"/>
          <p:cNvSpPr txBox="1"/>
          <p:nvPr/>
        </p:nvSpPr>
        <p:spPr>
          <a:xfrm>
            <a:off x="685800" y="1234440"/>
            <a:ext cx="3520440" cy="1371600"/>
          </a:xfrm>
          <a:prstGeom prst="rect">
            <a:avLst/>
          </a:prstGeom>
          <a:noFill/>
          <a:ln/>
        </p:spPr>
        <p:txBody>
          <a:bodyPr wrap="square" lIns="0" tIns="0" rIns="0" bIns="0" rtlCol="0" anchor="ctr"/>
          <a:lstStyle/>
          <a:p>
            <a:pPr indent="0" marL="0">
              <a:buNone/>
            </a:pPr>
            <a:r>
              <a:rPr lang="en-US" sz="1500" b="1" dirty="0">
                <a:solidFill>
                  <a:srgbClr val="5B6573"/>
                </a:solidFill>
                <a:latin typeface="Arial" pitchFamily="34" charset="0"/>
                <a:ea typeface="Arial" pitchFamily="34" charset="-122"/>
                <a:cs typeface="Arial" pitchFamily="34" charset="-120"/>
              </a:rPr>
              <a:t>4 weeks a month?</a:t>
            </a:r>
            <a:endParaRPr lang="en-US" sz="2200" dirty="0"/>
          </a:p>
          <a:p>
            <a:pPr indent="0" marL="0">
              <a:buNone/>
            </a:pPr>
            <a:r>
              <a:rPr lang="en-US" sz="2200" dirty="0">
                <a:solidFill>
                  <a:srgbClr val="1F2937"/>
                </a:solidFill>
                <a:latin typeface="Arial" pitchFamily="34" charset="0"/>
                <a:ea typeface="Arial" pitchFamily="34" charset="-122"/>
                <a:cs typeface="Arial" pitchFamily="34" charset="-120"/>
              </a:rPr>
              <a:t>4 × $1,125 = $4,500</a:t>
            </a:r>
            <a:endParaRPr lang="en-US" sz="2200" dirty="0"/>
          </a:p>
        </p:txBody>
      </p:sp>
      <p:sp>
        <p:nvSpPr>
          <p:cNvPr id="6" name="Shape 4"/>
          <p:cNvSpPr/>
          <p:nvPr/>
        </p:nvSpPr>
        <p:spPr>
          <a:xfrm>
            <a:off x="4709160" y="1234440"/>
            <a:ext cx="3977640" cy="1371600"/>
          </a:xfrm>
          <a:prstGeom prst="roundRect">
            <a:avLst>
              <a:gd name="adj" fmla="val 6667"/>
            </a:avLst>
          </a:prstGeom>
          <a:solidFill>
            <a:srgbClr val="E7F2F3"/>
          </a:solidFill>
          <a:ln w="12700">
            <a:solidFill>
              <a:srgbClr val="D5DCE4"/>
            </a:solidFill>
            <a:prstDash val="solid"/>
          </a:ln>
        </p:spPr>
      </p:sp>
      <p:sp>
        <p:nvSpPr>
          <p:cNvPr id="7" name="Text 5"/>
          <p:cNvSpPr txBox="1"/>
          <p:nvPr/>
        </p:nvSpPr>
        <p:spPr>
          <a:xfrm>
            <a:off x="4937760" y="1234440"/>
            <a:ext cx="3520440" cy="1371600"/>
          </a:xfrm>
          <a:prstGeom prst="rect">
            <a:avLst/>
          </a:prstGeom>
          <a:noFill/>
          <a:ln/>
        </p:spPr>
        <p:txBody>
          <a:bodyPr wrap="square" lIns="0" tIns="0" rIns="0" bIns="0" rtlCol="0" anchor="ctr"/>
          <a:lstStyle/>
          <a:p>
            <a:pPr indent="0" marL="0">
              <a:buNone/>
            </a:pPr>
            <a:r>
              <a:rPr lang="en-US" sz="1500" b="1" dirty="0">
                <a:solidFill>
                  <a:srgbClr val="17365D"/>
                </a:solidFill>
                <a:latin typeface="Arial" pitchFamily="34" charset="0"/>
                <a:ea typeface="Arial" pitchFamily="34" charset="-122"/>
                <a:cs typeface="Arial" pitchFamily="34" charset="-120"/>
              </a:rPr>
              <a:t>From the yearly amount</a:t>
            </a:r>
            <a:endParaRPr lang="en-US" sz="2200" dirty="0"/>
          </a:p>
          <a:p>
            <a:pPr indent="0" marL="0">
              <a:buNone/>
            </a:pPr>
            <a:r>
              <a:rPr lang="en-US" sz="2200" dirty="0">
                <a:solidFill>
                  <a:srgbClr val="1F2937"/>
                </a:solidFill>
                <a:latin typeface="Arial" pitchFamily="34" charset="0"/>
                <a:ea typeface="Arial" pitchFamily="34" charset="-122"/>
                <a:cs typeface="Arial" pitchFamily="34" charset="-120"/>
              </a:rPr>
              <a:t>$58,500 ÷ 12 = $4,875</a:t>
            </a:r>
            <a:endParaRPr lang="en-US" sz="2200" dirty="0"/>
          </a:p>
        </p:txBody>
      </p:sp>
      <p:sp>
        <p:nvSpPr>
          <p:cNvPr id="8" name="Shape 6"/>
          <p:cNvSpPr/>
          <p:nvPr/>
        </p:nvSpPr>
        <p:spPr>
          <a:xfrm>
            <a:off x="457200" y="3017520"/>
            <a:ext cx="8229600" cy="914400"/>
          </a:xfrm>
          <a:prstGeom prst="roundRect">
            <a:avLst>
              <a:gd name="adj" fmla="val 8000"/>
            </a:avLst>
          </a:prstGeom>
          <a:solidFill>
            <a:srgbClr val="FFF4C2"/>
          </a:solidFill>
          <a:ln w="12700">
            <a:solidFill>
              <a:srgbClr val="E8C547"/>
            </a:solidFill>
            <a:prstDash val="solid"/>
          </a:ln>
        </p:spPr>
      </p:sp>
      <p:sp>
        <p:nvSpPr>
          <p:cNvPr id="9" name="Text 7"/>
          <p:cNvSpPr txBox="1"/>
          <p:nvPr/>
        </p:nvSpPr>
        <p:spPr>
          <a:xfrm>
            <a:off x="594360" y="3017520"/>
            <a:ext cx="7955280" cy="914400"/>
          </a:xfrm>
          <a:prstGeom prst="rect">
            <a:avLst/>
          </a:prstGeom>
          <a:noFill/>
          <a:ln/>
        </p:spPr>
        <p:txBody>
          <a:bodyPr wrap="square" lIns="0" tIns="0" rIns="0" bIns="0" rtlCol="0" anchor="ctr"/>
          <a:lstStyle/>
          <a:p>
            <a:pPr indent="0" marL="0">
              <a:buNone/>
            </a:pPr>
            <a:r>
              <a:rPr lang="en-US" sz="2000" b="1" dirty="0">
                <a:solidFill>
                  <a:srgbClr val="17365D"/>
                </a:solidFill>
                <a:latin typeface="Arial" pitchFamily="34" charset="0"/>
                <a:ea typeface="Arial" pitchFamily="34" charset="-122"/>
                <a:cs typeface="Arial" pitchFamily="34" charset="-120"/>
              </a:rPr>
              <a:t>Key question  </a:t>
            </a:r>
            <a:pPr indent="0" marL="0">
              <a:buNone/>
            </a:pPr>
            <a:r>
              <a:rPr lang="en-US" sz="2000" dirty="0">
                <a:solidFill>
                  <a:srgbClr val="1F2937"/>
                </a:solidFill>
                <a:latin typeface="Arial" pitchFamily="34" charset="0"/>
                <a:ea typeface="Arial" pitchFamily="34" charset="-122"/>
                <a:cs typeface="Arial" pitchFamily="34" charset="-120"/>
              </a:rPr>
              <a:t>Why do the two methods give different answers, $4,500 and $4,875?</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The barista</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$25 per hour, working 38 hours a week</a:t>
            </a:r>
            <a:endParaRPr lang="en-US" sz="1400" dirty="0"/>
          </a:p>
        </p:txBody>
      </p:sp>
      <p:sp>
        <p:nvSpPr>
          <p:cNvPr id="4" name="Text 2"/>
          <p:cNvSpPr txBox="1"/>
          <p:nvPr/>
        </p:nvSpPr>
        <p:spPr>
          <a:xfrm>
            <a:off x="457200" y="1280160"/>
            <a:ext cx="8229600" cy="822960"/>
          </a:xfrm>
          <a:prstGeom prst="rect">
            <a:avLst/>
          </a:prstGeom>
          <a:noFill/>
          <a:ln/>
        </p:spPr>
        <p:txBody>
          <a:bodyPr wrap="square" lIns="0" tIns="0" rIns="0" bIns="0" rtlCol="0" anchor="t"/>
          <a:lstStyle/>
          <a:p>
            <a:pPr indent="0" marL="0">
              <a:spcAft>
                <a:spcPts val="600"/>
              </a:spcAft>
              <a:buNone/>
            </a:pPr>
            <a:r>
              <a:rPr lang="en-US" sz="2400" dirty="0">
                <a:solidFill>
                  <a:srgbClr val="1F2937"/>
                </a:solidFill>
                <a:latin typeface="Arial" pitchFamily="34" charset="0"/>
                <a:ea typeface="Arial" pitchFamily="34" charset="-122"/>
                <a:cs typeface="Arial" pitchFamily="34" charset="-120"/>
              </a:rPr>
              <a:t>Weekly: $25 × 38 = $950</a:t>
            </a:r>
            <a:endParaRPr lang="en-US" sz="2400" dirty="0"/>
          </a:p>
          <a:p>
            <a:pPr indent="0" marL="0">
              <a:spcAft>
                <a:spcPts val="600"/>
              </a:spcAft>
              <a:buNone/>
            </a:pPr>
            <a:r>
              <a:rPr lang="en-US" sz="2400" b="1" dirty="0">
                <a:solidFill>
                  <a:srgbClr val="1F2937"/>
                </a:solidFill>
                <a:latin typeface="Arial" pitchFamily="34" charset="0"/>
                <a:ea typeface="Arial" pitchFamily="34" charset="-122"/>
                <a:cs typeface="Arial" pitchFamily="34" charset="-120"/>
              </a:rPr>
              <a:t>Yearly: $950 × 52 = $49,400</a:t>
            </a:r>
            <a:endParaRPr lang="en-US" sz="2400" dirty="0"/>
          </a:p>
        </p:txBody>
      </p:sp>
      <p:sp>
        <p:nvSpPr>
          <p:cNvPr id="5" name="Shape 3"/>
          <p:cNvSpPr/>
          <p:nvPr/>
        </p:nvSpPr>
        <p:spPr>
          <a:xfrm>
            <a:off x="457200" y="2743200"/>
            <a:ext cx="8229600" cy="914400"/>
          </a:xfrm>
          <a:prstGeom prst="roundRect">
            <a:avLst>
              <a:gd name="adj" fmla="val 8000"/>
            </a:avLst>
          </a:prstGeom>
          <a:solidFill>
            <a:srgbClr val="FFF4C2"/>
          </a:solidFill>
          <a:ln w="12700">
            <a:solidFill>
              <a:srgbClr val="E8C547"/>
            </a:solidFill>
            <a:prstDash val="solid"/>
          </a:ln>
        </p:spPr>
      </p:sp>
      <p:sp>
        <p:nvSpPr>
          <p:cNvPr id="6" name="Text 4"/>
          <p:cNvSpPr txBox="1"/>
          <p:nvPr/>
        </p:nvSpPr>
        <p:spPr>
          <a:xfrm>
            <a:off x="594360" y="2743200"/>
            <a:ext cx="7955280" cy="914400"/>
          </a:xfrm>
          <a:prstGeom prst="rect">
            <a:avLst/>
          </a:prstGeom>
          <a:noFill/>
          <a:ln/>
        </p:spPr>
        <p:txBody>
          <a:bodyPr wrap="square" lIns="0" tIns="0" rIns="0" bIns="0" rtlCol="0" anchor="ctr"/>
          <a:lstStyle/>
          <a:p>
            <a:pPr indent="0" marL="0">
              <a:buNone/>
            </a:pPr>
            <a:r>
              <a:rPr lang="en-US" sz="2200" b="1" dirty="0">
                <a:solidFill>
                  <a:srgbClr val="17365D"/>
                </a:solidFill>
                <a:latin typeface="Arial" pitchFamily="34" charset="0"/>
                <a:ea typeface="Arial" pitchFamily="34" charset="-122"/>
                <a:cs typeface="Arial" pitchFamily="34" charset="-120"/>
              </a:rPr>
              <a:t>Key question  </a:t>
            </a:r>
            <a:pPr indent="0" marL="0">
              <a:buNone/>
            </a:pPr>
            <a:r>
              <a:rPr lang="en-US" sz="2200" dirty="0">
                <a:solidFill>
                  <a:srgbClr val="1F2937"/>
                </a:solidFill>
                <a:latin typeface="Arial" pitchFamily="34" charset="0"/>
                <a:ea typeface="Arial" pitchFamily="34" charset="-122"/>
                <a:cs typeface="Arial" pitchFamily="34" charset="-120"/>
              </a:rPr>
              <a:t>Now can we answer today's question?</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We do: your turn</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On your mini whiteboard, before we check</a:t>
            </a:r>
            <a:endParaRPr lang="en-US" sz="1400" dirty="0"/>
          </a:p>
        </p:txBody>
      </p:sp>
      <p:sp>
        <p:nvSpPr>
          <p:cNvPr id="4" name="Shape 2"/>
          <p:cNvSpPr/>
          <p:nvPr/>
        </p:nvSpPr>
        <p:spPr>
          <a:xfrm>
            <a:off x="457200" y="1371600"/>
            <a:ext cx="8229600" cy="2560320"/>
          </a:xfrm>
          <a:prstGeom prst="roundRect">
            <a:avLst>
              <a:gd name="adj" fmla="val 3571"/>
            </a:avLst>
          </a:prstGeom>
          <a:solidFill>
            <a:srgbClr val="E7F2F3"/>
          </a:solidFill>
          <a:ln w="12700">
            <a:solidFill>
              <a:srgbClr val="D5DCE4"/>
            </a:solidFill>
            <a:prstDash val="solid"/>
          </a:ln>
        </p:spPr>
      </p:sp>
      <p:sp>
        <p:nvSpPr>
          <p:cNvPr id="5" name="Text 3"/>
          <p:cNvSpPr txBox="1"/>
          <p:nvPr/>
        </p:nvSpPr>
        <p:spPr>
          <a:xfrm>
            <a:off x="777240" y="1371600"/>
            <a:ext cx="7589520" cy="2560320"/>
          </a:xfrm>
          <a:prstGeom prst="rect">
            <a:avLst/>
          </a:prstGeom>
          <a:noFill/>
          <a:ln/>
        </p:spPr>
        <p:txBody>
          <a:bodyPr wrap="square" lIns="0" tIns="0" rIns="0" bIns="0" rtlCol="0" anchor="ctr"/>
          <a:lstStyle/>
          <a:p>
            <a:pPr indent="0" marL="0">
              <a:buNone/>
            </a:pPr>
            <a:r>
              <a:rPr lang="en-US" sz="3200" dirty="0">
                <a:solidFill>
                  <a:srgbClr val="1F2937"/>
                </a:solidFill>
                <a:latin typeface="Arial" pitchFamily="34" charset="0"/>
                <a:ea typeface="Arial" pitchFamily="34" charset="-122"/>
                <a:cs typeface="Arial" pitchFamily="34" charset="-120"/>
              </a:rPr>
              <a:t>Jess earns $700 per week. Find her yearly pay and her monthly pay.</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Annual leave and leave loading</a:t>
            </a:r>
            <a:endParaRPr lang="en-US" sz="2800" dirty="0"/>
          </a:p>
        </p:txBody>
      </p:sp>
      <p:pic>
        <p:nvPicPr>
          <p:cNvPr id="3" name="Image 0" descr="/Users/xiepeiyi/Desktop/secondary teaching-skills/usyd/5663-Mathematics/assessments/at2-unit-of-work/website/assets/img/vocab-annual_leave.jpg">    </p:cNvPr>
          <p:cNvPicPr>
            <a:picLocks noChangeAspect="1"/>
          </p:cNvPicPr>
          <p:nvPr/>
        </p:nvPicPr>
        <p:blipFill>
          <a:blip r:embed="rId1"/>
          <a:srcRect l="0" r="0" t="0" b="0"/>
          <a:stretch/>
        </p:blipFill>
        <p:spPr>
          <a:xfrm>
            <a:off x="5760720" y="1051560"/>
            <a:ext cx="2926080" cy="2194560"/>
          </a:xfrm>
          <a:prstGeom prst="rect">
            <a:avLst/>
          </a:prstGeom>
        </p:spPr>
      </p:pic>
      <p:sp>
        <p:nvSpPr>
          <p:cNvPr id="4" name="Text 1"/>
          <p:cNvSpPr txBox="1"/>
          <p:nvPr/>
        </p:nvSpPr>
        <p:spPr>
          <a:xfrm>
            <a:off x="457200" y="1051560"/>
            <a:ext cx="5029200" cy="3108960"/>
          </a:xfrm>
          <a:prstGeom prst="rect">
            <a:avLst/>
          </a:prstGeom>
          <a:noFill/>
          <a:ln/>
        </p:spPr>
        <p:txBody>
          <a:bodyPr wrap="square" lIns="0" tIns="0" rIns="0" bIns="0" rtlCol="0" anchor="t"/>
          <a:lstStyle/>
          <a:p>
            <a:pPr indent="0" marL="0">
              <a:buNone/>
            </a:pPr>
            <a:r>
              <a:rPr lang="en-US" sz="1800" b="1" dirty="0">
                <a:solidFill>
                  <a:srgbClr val="1F7A8C"/>
                </a:solidFill>
                <a:latin typeface="Arial" pitchFamily="34" charset="0"/>
                <a:ea typeface="Arial" pitchFamily="34" charset="-122"/>
                <a:cs typeface="Arial" pitchFamily="34" charset="-120"/>
              </a:rPr>
              <a:t>Annual leave</a:t>
            </a:r>
            <a:endParaRPr lang="en-US" sz="1800" dirty="0"/>
          </a:p>
          <a:p>
            <a:pPr indent="0" marL="0">
              <a:buNone/>
            </a:pPr>
            <a:r>
              <a:rPr lang="en-US" sz="1800" dirty="0">
                <a:solidFill>
                  <a:srgbClr val="1F2937"/>
                </a:solidFill>
                <a:latin typeface="Arial" pitchFamily="34" charset="0"/>
                <a:ea typeface="Arial" pitchFamily="34" charset="-122"/>
                <a:cs typeface="Arial" pitchFamily="34" charset="-120"/>
              </a:rPr>
              <a:t>Full-time and part-time employees get 4 weeks of paid annual leave each year. Casual employees do not.</a:t>
            </a:r>
            <a:endParaRPr lang="en-US" sz="1800" dirty="0"/>
          </a:p>
          <a:p>
            <a:pPr indent="0" marL="0">
              <a:buNone/>
            </a:pPr>
            <a:r>
              <a:rPr lang="en-US" sz="800" dirty="0">
                <a:solidFill>
                  <a:srgbClr val="1F2937"/>
                </a:solidFill>
                <a:latin typeface="Arial" pitchFamily="34" charset="0"/>
                <a:ea typeface="Arial" pitchFamily="34" charset="-122"/>
                <a:cs typeface="Arial" pitchFamily="34" charset="-120"/>
              </a:rPr>
              <a:t> </a:t>
            </a:r>
            <a:endParaRPr lang="en-US" sz="1800" dirty="0"/>
          </a:p>
          <a:p>
            <a:pPr indent="0" marL="0">
              <a:buNone/>
            </a:pPr>
            <a:r>
              <a:rPr lang="en-US" sz="1800" b="1" dirty="0">
                <a:solidFill>
                  <a:srgbClr val="1F7A8C"/>
                </a:solidFill>
                <a:latin typeface="Arial" pitchFamily="34" charset="0"/>
                <a:ea typeface="Arial" pitchFamily="34" charset="-122"/>
                <a:cs typeface="Arial" pitchFamily="34" charset="-120"/>
              </a:rPr>
              <a:t>Leave loading</a:t>
            </a:r>
            <a:endParaRPr lang="en-US" sz="1800" dirty="0"/>
          </a:p>
          <a:p>
            <a:pPr indent="0" marL="0">
              <a:buNone/>
            </a:pPr>
            <a:r>
              <a:rPr lang="en-US" sz="1800" dirty="0">
                <a:solidFill>
                  <a:srgbClr val="1F2937"/>
                </a:solidFill>
                <a:latin typeface="Arial" pitchFamily="34" charset="0"/>
                <a:ea typeface="Arial" pitchFamily="34" charset="-122"/>
                <a:cs typeface="Arial" pitchFamily="34" charset="-120"/>
              </a:rPr>
              <a:t>Some awards pay an extra amount during leave. In the General Retail Industry Award it is 17.5%.</a:t>
            </a:r>
            <a:endParaRPr lang="en-US" sz="1800" dirty="0"/>
          </a:p>
        </p:txBody>
      </p:sp>
      <p:sp>
        <p:nvSpPr>
          <p:cNvPr id="5" name="Text 2"/>
          <p:cNvSpPr txBox="1"/>
          <p:nvPr/>
        </p:nvSpPr>
        <p:spPr>
          <a:xfrm>
            <a:off x="457200" y="4343400"/>
            <a:ext cx="8229600" cy="411480"/>
          </a:xfrm>
          <a:prstGeom prst="rect">
            <a:avLst/>
          </a:prstGeom>
          <a:noFill/>
          <a:ln/>
        </p:spPr>
        <p:txBody>
          <a:bodyPr wrap="square" lIns="0" tIns="0" rIns="0" bIns="0" rtlCol="0" anchor="ctr"/>
          <a:lstStyle/>
          <a:p>
            <a:pPr indent="0" marL="0">
              <a:buNone/>
            </a:pPr>
            <a:r>
              <a:rPr lang="en-US" sz="1600" b="1" dirty="0">
                <a:solidFill>
                  <a:srgbClr val="1F7A8C"/>
                </a:solidFill>
                <a:latin typeface="Arial" pitchFamily="34" charset="0"/>
                <a:ea typeface="Arial" pitchFamily="34" charset="-122"/>
                <a:cs typeface="Arial" pitchFamily="34" charset="-120"/>
              </a:rPr>
              <a:t>Pay words  </a:t>
            </a:r>
            <a:pPr indent="0" marL="0">
              <a:buNone/>
            </a:pPr>
            <a:r>
              <a:rPr lang="en-US" sz="1600" dirty="0">
                <a:solidFill>
                  <a:srgbClr val="1F2937"/>
                </a:solidFill>
                <a:latin typeface="Arial" pitchFamily="34" charset="0"/>
                <a:ea typeface="Arial" pitchFamily="34" charset="-122"/>
                <a:cs typeface="Arial" pitchFamily="34" charset="-120"/>
              </a:rPr>
              <a:t>annual leave · leave loading</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Priya's leave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Full-time retail worker, normal pay $1,000 per week, weekdays only. She takes 4 weeks of annual leave.</a:t>
            </a:r>
            <a:endParaRPr lang="en-US" sz="1400" dirty="0"/>
          </a:p>
        </p:txBody>
      </p:sp>
      <p:sp>
        <p:nvSpPr>
          <p:cNvPr id="4" name="Text 2"/>
          <p:cNvSpPr txBox="1"/>
          <p:nvPr/>
        </p:nvSpPr>
        <p:spPr>
          <a:xfrm>
            <a:off x="457200" y="1371600"/>
            <a:ext cx="8229600" cy="1234440"/>
          </a:xfrm>
          <a:prstGeom prst="rect">
            <a:avLst/>
          </a:prstGeom>
          <a:noFill/>
          <a:ln/>
        </p:spPr>
        <p:txBody>
          <a:bodyPr wrap="square" lIns="0" tIns="0" rIns="0" bIns="0" rtlCol="0" anchor="t"/>
          <a:lstStyle/>
          <a:p>
            <a:pPr indent="0" marL="0">
              <a:spcAft>
                <a:spcPts val="600"/>
              </a:spcAft>
              <a:buNone/>
            </a:pPr>
            <a:r>
              <a:rPr lang="en-US" sz="2000" dirty="0">
                <a:solidFill>
                  <a:srgbClr val="1F2937"/>
                </a:solidFill>
                <a:latin typeface="Arial" pitchFamily="34" charset="0"/>
                <a:ea typeface="Arial" pitchFamily="34" charset="-122"/>
                <a:cs typeface="Arial" pitchFamily="34" charset="-120"/>
              </a:rPr>
              <a:t>Normal pay for 4 weeks: $1,000 × 4 = $4,000</a:t>
            </a:r>
            <a:endParaRPr lang="en-US" sz="2000" dirty="0"/>
          </a:p>
          <a:p>
            <a:pPr indent="0" marL="0">
              <a:spcAft>
                <a:spcPts val="600"/>
              </a:spcAft>
              <a:buNone/>
            </a:pPr>
            <a:r>
              <a:rPr lang="en-US" sz="2000" dirty="0">
                <a:solidFill>
                  <a:srgbClr val="1F2937"/>
                </a:solidFill>
                <a:latin typeface="Arial" pitchFamily="34" charset="0"/>
                <a:ea typeface="Arial" pitchFamily="34" charset="-122"/>
                <a:cs typeface="Arial" pitchFamily="34" charset="-120"/>
              </a:rPr>
              <a:t>Leave loading: 17.5% of $4,000 = 0.175 × $4,000 = $700</a:t>
            </a:r>
            <a:endParaRPr lang="en-US" sz="2000" dirty="0"/>
          </a:p>
          <a:p>
            <a:pPr indent="0" marL="0">
              <a:spcAft>
                <a:spcPts val="600"/>
              </a:spcAft>
              <a:buNone/>
            </a:pPr>
            <a:r>
              <a:rPr lang="en-US" sz="2000" b="1" dirty="0">
                <a:solidFill>
                  <a:srgbClr val="1F2937"/>
                </a:solidFill>
                <a:latin typeface="Arial" pitchFamily="34" charset="0"/>
                <a:ea typeface="Arial" pitchFamily="34" charset="-122"/>
                <a:cs typeface="Arial" pitchFamily="34" charset="-120"/>
              </a:rPr>
              <a:t>Total paid for her leave: $4,000 + $700 = $4,700</a:t>
            </a:r>
            <a:endParaRPr lang="en-US" sz="2000" dirty="0"/>
          </a:p>
        </p:txBody>
      </p:sp>
      <p:sp>
        <p:nvSpPr>
          <p:cNvPr id="5" name="Shape 3"/>
          <p:cNvSpPr/>
          <p:nvPr/>
        </p:nvSpPr>
        <p:spPr>
          <a:xfrm>
            <a:off x="457200" y="2926080"/>
            <a:ext cx="8229600" cy="685800"/>
          </a:xfrm>
          <a:prstGeom prst="roundRect">
            <a:avLst>
              <a:gd name="adj" fmla="val 10667"/>
            </a:avLst>
          </a:prstGeom>
          <a:solidFill>
            <a:srgbClr val="FFF4C2"/>
          </a:solidFill>
          <a:ln w="12700">
            <a:solidFill>
              <a:srgbClr val="E8C547"/>
            </a:solidFill>
            <a:prstDash val="solid"/>
          </a:ln>
        </p:spPr>
      </p:sp>
      <p:sp>
        <p:nvSpPr>
          <p:cNvPr id="6" name="Text 4"/>
          <p:cNvSpPr txBox="1"/>
          <p:nvPr/>
        </p:nvSpPr>
        <p:spPr>
          <a:xfrm>
            <a:off x="594360" y="2926080"/>
            <a:ext cx="7955280" cy="685800"/>
          </a:xfrm>
          <a:prstGeom prst="rect">
            <a:avLst/>
          </a:prstGeom>
          <a:noFill/>
          <a:ln/>
        </p:spPr>
        <p:txBody>
          <a:bodyPr wrap="square" lIns="0" tIns="0" rIns="0" bIns="0" rtlCol="0" anchor="ctr"/>
          <a:lstStyle/>
          <a:p>
            <a:pPr indent="0" marL="0">
              <a:buNone/>
            </a:pPr>
            <a:r>
              <a:rPr lang="en-US" sz="1700" b="1" dirty="0">
                <a:solidFill>
                  <a:srgbClr val="17365D"/>
                </a:solidFill>
                <a:latin typeface="Arial" pitchFamily="34" charset="0"/>
                <a:ea typeface="Arial" pitchFamily="34" charset="-122"/>
                <a:cs typeface="Arial" pitchFamily="34" charset="-120"/>
              </a:rPr>
              <a:t>Key question  </a:t>
            </a:r>
            <a:pPr indent="0" marL="0">
              <a:buNone/>
            </a:pPr>
            <a:r>
              <a:rPr lang="en-US" sz="1700" dirty="0">
                <a:solidFill>
                  <a:srgbClr val="1F2937"/>
                </a:solidFill>
                <a:latin typeface="Arial" pitchFamily="34" charset="0"/>
                <a:ea typeface="Arial" pitchFamily="34" charset="-122"/>
                <a:cs typeface="Arial" pitchFamily="34" charset="-120"/>
              </a:rPr>
              <a:t>Is the 17.5% worked out on one week's pay or on the whole leave period?</a:t>
            </a:r>
            <a:endParaRPr lang="en-US" sz="1700" dirty="0"/>
          </a:p>
        </p:txBody>
      </p:sp>
      <p:sp>
        <p:nvSpPr>
          <p:cNvPr id="7" name="Shape 5"/>
          <p:cNvSpPr/>
          <p:nvPr/>
        </p:nvSpPr>
        <p:spPr>
          <a:xfrm>
            <a:off x="457200" y="3749040"/>
            <a:ext cx="8229600" cy="685800"/>
          </a:xfrm>
          <a:prstGeom prst="roundRect">
            <a:avLst>
              <a:gd name="adj" fmla="val 10667"/>
            </a:avLst>
          </a:prstGeom>
          <a:solidFill>
            <a:srgbClr val="FFF4C2"/>
          </a:solidFill>
          <a:ln w="12700">
            <a:solidFill>
              <a:srgbClr val="E8C547"/>
            </a:solidFill>
            <a:prstDash val="solid"/>
          </a:ln>
        </p:spPr>
      </p:sp>
      <p:sp>
        <p:nvSpPr>
          <p:cNvPr id="8" name="Text 6"/>
          <p:cNvSpPr txBox="1"/>
          <p:nvPr/>
        </p:nvSpPr>
        <p:spPr>
          <a:xfrm>
            <a:off x="594360" y="3749040"/>
            <a:ext cx="7955280" cy="685800"/>
          </a:xfrm>
          <a:prstGeom prst="rect">
            <a:avLst/>
          </a:prstGeom>
          <a:noFill/>
          <a:ln/>
        </p:spPr>
        <p:txBody>
          <a:bodyPr wrap="square" lIns="0" tIns="0" rIns="0" bIns="0" rtlCol="0" anchor="ctr"/>
          <a:lstStyle/>
          <a:p>
            <a:pPr indent="0" marL="0">
              <a:buNone/>
            </a:pPr>
            <a:r>
              <a:rPr lang="en-US" sz="1700" b="1" dirty="0">
                <a:solidFill>
                  <a:srgbClr val="17365D"/>
                </a:solidFill>
                <a:latin typeface="Arial" pitchFamily="34" charset="0"/>
                <a:ea typeface="Arial" pitchFamily="34" charset="-122"/>
                <a:cs typeface="Arial" pitchFamily="34" charset="-120"/>
              </a:rPr>
              <a:t>Key question  </a:t>
            </a:r>
            <a:pPr indent="0" marL="0">
              <a:buNone/>
            </a:pPr>
            <a:r>
              <a:rPr lang="en-US" sz="1700" dirty="0">
                <a:solidFill>
                  <a:srgbClr val="1F2937"/>
                </a:solidFill>
                <a:latin typeface="Arial" pitchFamily="34" charset="0"/>
                <a:ea typeface="Arial" pitchFamily="34" charset="-122"/>
                <a:cs typeface="Arial" pitchFamily="34" charset="-120"/>
              </a:rPr>
              <a:t>Ella is a casual barista. Does she get leave loading?</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Pay As You Go (PAYG) tax</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The employer takes some tax out of each pay and sends it to the ATO.</a:t>
            </a:r>
            <a:endParaRPr lang="en-US" sz="1400" dirty="0"/>
          </a:p>
        </p:txBody>
      </p:sp>
      <p:sp>
        <p:nvSpPr>
          <p:cNvPr id="4" name="Shape 2"/>
          <p:cNvSpPr/>
          <p:nvPr/>
        </p:nvSpPr>
        <p:spPr>
          <a:xfrm>
            <a:off x="457200" y="1280160"/>
            <a:ext cx="8229600" cy="548640"/>
          </a:xfrm>
          <a:prstGeom prst="roundRect">
            <a:avLst>
              <a:gd name="adj" fmla="val 16667"/>
            </a:avLst>
          </a:prstGeom>
          <a:solidFill>
            <a:srgbClr val="FFFFFF"/>
          </a:solidFill>
          <a:ln w="12700">
            <a:solidFill>
              <a:srgbClr val="D5DCE4"/>
            </a:solidFill>
            <a:prstDash val="solid"/>
          </a:ln>
        </p:spPr>
      </p:sp>
      <p:sp>
        <p:nvSpPr>
          <p:cNvPr id="5" name="Text 3"/>
          <p:cNvSpPr txBox="1"/>
          <p:nvPr/>
        </p:nvSpPr>
        <p:spPr>
          <a:xfrm>
            <a:off x="640080" y="1280160"/>
            <a:ext cx="7863840" cy="548640"/>
          </a:xfrm>
          <a:prstGeom prst="rect">
            <a:avLst/>
          </a:prstGeom>
          <a:noFill/>
          <a:ln/>
        </p:spPr>
        <p:txBody>
          <a:bodyPr wrap="square" lIns="0" tIns="0" rIns="0" bIns="0" rtlCol="0" anchor="ctr"/>
          <a:lstStyle/>
          <a:p>
            <a:pPr indent="0" marL="0">
              <a:buNone/>
            </a:pPr>
            <a:r>
              <a:rPr lang="en-US" sz="1700" b="1" dirty="0">
                <a:solidFill>
                  <a:srgbClr val="17365D"/>
                </a:solidFill>
                <a:latin typeface="Arial" pitchFamily="34" charset="0"/>
                <a:ea typeface="Arial" pitchFamily="34" charset="-122"/>
                <a:cs typeface="Arial" pitchFamily="34" charset="-120"/>
              </a:rPr>
              <a:t>Gross pay  </a:t>
            </a:r>
            <a:pPr indent="0" marL="0">
              <a:buNone/>
            </a:pPr>
            <a:r>
              <a:rPr lang="en-US" sz="1700" dirty="0">
                <a:solidFill>
                  <a:srgbClr val="1F2937"/>
                </a:solidFill>
                <a:latin typeface="Arial" pitchFamily="34" charset="0"/>
                <a:ea typeface="Arial" pitchFamily="34" charset="-122"/>
                <a:cs typeface="Arial" pitchFamily="34" charset="-120"/>
              </a:rPr>
              <a:t>pay before tax</a:t>
            </a:r>
            <a:endParaRPr lang="en-US" sz="1700" dirty="0"/>
          </a:p>
        </p:txBody>
      </p:sp>
      <p:sp>
        <p:nvSpPr>
          <p:cNvPr id="6" name="Shape 4"/>
          <p:cNvSpPr/>
          <p:nvPr/>
        </p:nvSpPr>
        <p:spPr>
          <a:xfrm>
            <a:off x="457200" y="1938528"/>
            <a:ext cx="8229600" cy="548640"/>
          </a:xfrm>
          <a:prstGeom prst="roundRect">
            <a:avLst>
              <a:gd name="adj" fmla="val 16667"/>
            </a:avLst>
          </a:prstGeom>
          <a:solidFill>
            <a:srgbClr val="FFFFFF"/>
          </a:solidFill>
          <a:ln w="12700">
            <a:solidFill>
              <a:srgbClr val="D5DCE4"/>
            </a:solidFill>
            <a:prstDash val="solid"/>
          </a:ln>
        </p:spPr>
      </p:sp>
      <p:sp>
        <p:nvSpPr>
          <p:cNvPr id="7" name="Text 5"/>
          <p:cNvSpPr txBox="1"/>
          <p:nvPr/>
        </p:nvSpPr>
        <p:spPr>
          <a:xfrm>
            <a:off x="640080" y="1938528"/>
            <a:ext cx="7863840" cy="548640"/>
          </a:xfrm>
          <a:prstGeom prst="rect">
            <a:avLst/>
          </a:prstGeom>
          <a:noFill/>
          <a:ln/>
        </p:spPr>
        <p:txBody>
          <a:bodyPr wrap="square" lIns="0" tIns="0" rIns="0" bIns="0" rtlCol="0" anchor="ctr"/>
          <a:lstStyle/>
          <a:p>
            <a:pPr indent="0" marL="0">
              <a:buNone/>
            </a:pPr>
            <a:r>
              <a:rPr lang="en-US" sz="1700" b="1" dirty="0">
                <a:solidFill>
                  <a:srgbClr val="17365D"/>
                </a:solidFill>
                <a:latin typeface="Arial" pitchFamily="34" charset="0"/>
                <a:ea typeface="Arial" pitchFamily="34" charset="-122"/>
                <a:cs typeface="Arial" pitchFamily="34" charset="-120"/>
              </a:rPr>
              <a:t>Tax withheld  </a:t>
            </a:r>
            <a:pPr indent="0" marL="0">
              <a:buNone/>
            </a:pPr>
            <a:r>
              <a:rPr lang="en-US" sz="1700" dirty="0">
                <a:solidFill>
                  <a:srgbClr val="1F2937"/>
                </a:solidFill>
                <a:latin typeface="Arial" pitchFamily="34" charset="0"/>
                <a:ea typeface="Arial" pitchFamily="34" charset="-122"/>
                <a:cs typeface="Arial" pitchFamily="34" charset="-120"/>
              </a:rPr>
              <a:t>the tax the employer keeps back from each pay</a:t>
            </a:r>
            <a:endParaRPr lang="en-US" sz="1700" dirty="0"/>
          </a:p>
        </p:txBody>
      </p:sp>
      <p:sp>
        <p:nvSpPr>
          <p:cNvPr id="8" name="Shape 6"/>
          <p:cNvSpPr/>
          <p:nvPr/>
        </p:nvSpPr>
        <p:spPr>
          <a:xfrm>
            <a:off x="457200" y="2596896"/>
            <a:ext cx="8229600" cy="548640"/>
          </a:xfrm>
          <a:prstGeom prst="roundRect">
            <a:avLst>
              <a:gd name="adj" fmla="val 16667"/>
            </a:avLst>
          </a:prstGeom>
          <a:solidFill>
            <a:srgbClr val="FFFFFF"/>
          </a:solidFill>
          <a:ln w="12700">
            <a:solidFill>
              <a:srgbClr val="D5DCE4"/>
            </a:solidFill>
            <a:prstDash val="solid"/>
          </a:ln>
        </p:spPr>
      </p:sp>
      <p:sp>
        <p:nvSpPr>
          <p:cNvPr id="9" name="Text 7"/>
          <p:cNvSpPr txBox="1"/>
          <p:nvPr/>
        </p:nvSpPr>
        <p:spPr>
          <a:xfrm>
            <a:off x="640080" y="2596896"/>
            <a:ext cx="7863840" cy="548640"/>
          </a:xfrm>
          <a:prstGeom prst="rect">
            <a:avLst/>
          </a:prstGeom>
          <a:noFill/>
          <a:ln/>
        </p:spPr>
        <p:txBody>
          <a:bodyPr wrap="square" lIns="0" tIns="0" rIns="0" bIns="0" rtlCol="0" anchor="ctr"/>
          <a:lstStyle/>
          <a:p>
            <a:pPr indent="0" marL="0">
              <a:buNone/>
            </a:pPr>
            <a:r>
              <a:rPr lang="en-US" sz="1700" b="1" dirty="0">
                <a:solidFill>
                  <a:srgbClr val="17365D"/>
                </a:solidFill>
                <a:latin typeface="Arial" pitchFamily="34" charset="0"/>
                <a:ea typeface="Arial" pitchFamily="34" charset="-122"/>
                <a:cs typeface="Arial" pitchFamily="34" charset="-120"/>
              </a:rPr>
              <a:t>Net pay (take-home pay)  </a:t>
            </a:r>
            <a:pPr indent="0" marL="0">
              <a:buNone/>
            </a:pPr>
            <a:r>
              <a:rPr lang="en-US" sz="1700" dirty="0">
                <a:solidFill>
                  <a:srgbClr val="1F2937"/>
                </a:solidFill>
                <a:latin typeface="Arial" pitchFamily="34" charset="0"/>
                <a:ea typeface="Arial" pitchFamily="34" charset="-122"/>
                <a:cs typeface="Arial" pitchFamily="34" charset="-120"/>
              </a:rPr>
              <a:t>what is left after the tax withheld is taken out</a:t>
            </a:r>
            <a:endParaRPr lang="en-US" sz="1700" dirty="0"/>
          </a:p>
        </p:txBody>
      </p:sp>
      <p:sp>
        <p:nvSpPr>
          <p:cNvPr id="10" name="Shape 8"/>
          <p:cNvSpPr/>
          <p:nvPr/>
        </p:nvSpPr>
        <p:spPr>
          <a:xfrm>
            <a:off x="457200" y="3337560"/>
            <a:ext cx="8229600" cy="685800"/>
          </a:xfrm>
          <a:prstGeom prst="roundRect">
            <a:avLst>
              <a:gd name="adj" fmla="val 13333"/>
            </a:avLst>
          </a:prstGeom>
          <a:solidFill>
            <a:srgbClr val="E7F2F3"/>
          </a:solidFill>
          <a:ln w="12700">
            <a:solidFill>
              <a:srgbClr val="D5DCE4"/>
            </a:solidFill>
            <a:prstDash val="solid"/>
          </a:ln>
        </p:spPr>
      </p:sp>
      <p:sp>
        <p:nvSpPr>
          <p:cNvPr id="11" name="Text 9"/>
          <p:cNvSpPr txBox="1"/>
          <p:nvPr/>
        </p:nvSpPr>
        <p:spPr>
          <a:xfrm>
            <a:off x="640080" y="3337560"/>
            <a:ext cx="7863840" cy="685800"/>
          </a:xfrm>
          <a:prstGeom prst="rect">
            <a:avLst/>
          </a:prstGeom>
          <a:noFill/>
          <a:ln/>
        </p:spPr>
        <p:txBody>
          <a:bodyPr wrap="square" lIns="0" tIns="0" rIns="0" bIns="0" rtlCol="0" anchor="ctr"/>
          <a:lstStyle/>
          <a:p>
            <a:pPr indent="0" marL="0">
              <a:buNone/>
            </a:pPr>
            <a:r>
              <a:rPr lang="en-US" sz="1600" b="1" dirty="0">
                <a:solidFill>
                  <a:srgbClr val="17365D"/>
                </a:solidFill>
                <a:latin typeface="Arial" pitchFamily="34" charset="0"/>
                <a:ea typeface="Arial" pitchFamily="34" charset="-122"/>
                <a:cs typeface="Arial" pitchFamily="34" charset="-120"/>
              </a:rPr>
              <a:t>Tax-free threshold  </a:t>
            </a:r>
            <a:pPr indent="0" marL="0">
              <a:buNone/>
            </a:pPr>
            <a:r>
              <a:rPr lang="en-US" sz="1600" dirty="0">
                <a:solidFill>
                  <a:srgbClr val="1F2937"/>
                </a:solidFill>
                <a:latin typeface="Arial" pitchFamily="34" charset="0"/>
                <a:ea typeface="Arial" pitchFamily="34" charset="-122"/>
                <a:cs typeface="Arial" pitchFamily="34" charset="-120"/>
              </a:rPr>
              <a:t>For most Australian residents, the first $18,200 they earn in a year has no income tax.</a:t>
            </a:r>
            <a:endParaRPr lang="en-US" sz="1600" dirty="0"/>
          </a:p>
        </p:txBody>
      </p:sp>
      <p:sp>
        <p:nvSpPr>
          <p:cNvPr id="12" name="Shape 10"/>
          <p:cNvSpPr/>
          <p:nvPr/>
        </p:nvSpPr>
        <p:spPr>
          <a:xfrm>
            <a:off x="457200" y="4160520"/>
            <a:ext cx="8229600" cy="594360"/>
          </a:xfrm>
          <a:prstGeom prst="roundRect">
            <a:avLst>
              <a:gd name="adj" fmla="val 12308"/>
            </a:avLst>
          </a:prstGeom>
          <a:solidFill>
            <a:srgbClr val="FFF4C2"/>
          </a:solidFill>
          <a:ln w="12700">
            <a:solidFill>
              <a:srgbClr val="E8C547"/>
            </a:solidFill>
            <a:prstDash val="solid"/>
          </a:ln>
        </p:spPr>
      </p:sp>
      <p:sp>
        <p:nvSpPr>
          <p:cNvPr id="13" name="Text 11"/>
          <p:cNvSpPr txBox="1"/>
          <p:nvPr/>
        </p:nvSpPr>
        <p:spPr>
          <a:xfrm>
            <a:off x="594360" y="4160520"/>
            <a:ext cx="7955280" cy="594360"/>
          </a:xfrm>
          <a:prstGeom prst="rect">
            <a:avLst/>
          </a:prstGeom>
          <a:noFill/>
          <a:ln/>
        </p:spPr>
        <p:txBody>
          <a:bodyPr wrap="square" lIns="0" tIns="0" rIns="0" bIns="0" rtlCol="0" anchor="ctr"/>
          <a:lstStyle/>
          <a:p>
            <a:pPr indent="0" marL="0">
              <a:buNone/>
            </a:pPr>
            <a:r>
              <a:rPr lang="en-US" sz="1700" b="1" dirty="0">
                <a:solidFill>
                  <a:srgbClr val="17365D"/>
                </a:solidFill>
                <a:latin typeface="Arial" pitchFamily="34" charset="0"/>
                <a:ea typeface="Arial" pitchFamily="34" charset="-122"/>
                <a:cs typeface="Arial" pitchFamily="34" charset="-120"/>
              </a:rPr>
              <a:t>Key question  </a:t>
            </a:r>
            <a:pPr indent="0" marL="0">
              <a:buNone/>
            </a:pPr>
            <a:r>
              <a:rPr lang="en-US" sz="1700" dirty="0">
                <a:solidFill>
                  <a:srgbClr val="1F2937"/>
                </a:solidFill>
                <a:latin typeface="Arial" pitchFamily="34" charset="0"/>
                <a:ea typeface="Arial" pitchFamily="34" charset="-122"/>
                <a:cs typeface="Arial" pitchFamily="34" charset="-120"/>
              </a:rPr>
              <a:t>Using 52 weeks, how much is that per week?</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The ATO weekly tax table</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Read the column headings together. Then look up $350.</a:t>
            </a:r>
            <a:endParaRPr lang="en-US" sz="1400" dirty="0"/>
          </a:p>
        </p:txBody>
      </p:sp>
      <p:sp>
        <p:nvSpPr>
          <p:cNvPr id="4" name="Text 2"/>
          <p:cNvSpPr txBox="1"/>
          <p:nvPr/>
        </p:nvSpPr>
        <p:spPr>
          <a:xfrm>
            <a:off x="2286000" y="1307592"/>
            <a:ext cx="4023360" cy="274320"/>
          </a:xfrm>
          <a:prstGeom prst="rect">
            <a:avLst/>
          </a:prstGeom>
          <a:noFill/>
          <a:ln/>
        </p:spPr>
        <p:txBody>
          <a:bodyPr wrap="square" lIns="0" tIns="0" rIns="0" bIns="0" rtlCol="0" anchor="ctr"/>
          <a:lstStyle/>
          <a:p>
            <a:pPr algn="ctr" indent="0" marL="0">
              <a:buNone/>
            </a:pPr>
            <a:r>
              <a:rPr lang="en-US" sz="1200" b="1" dirty="0">
                <a:solidFill>
                  <a:srgbClr val="5B6573"/>
                </a:solidFill>
                <a:latin typeface="Arial" pitchFamily="34" charset="0"/>
                <a:ea typeface="Arial" pitchFamily="34" charset="-122"/>
                <a:cs typeface="Arial" pitchFamily="34" charset="-120"/>
              </a:rPr>
              <a:t>Amount to be withheld</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6858000" cy="914400"/>
        </p:xfrm>
        <a:graphic>
          <a:graphicData uri="http://schemas.openxmlformats.org/drawingml/2006/table">
            <a:tbl>
              <a:tblPr/>
              <a:tblGrid>
                <a:gridCol w="1828800"/>
                <a:gridCol w="2011680"/>
                <a:gridCol w="2011680"/>
              </a:tblGrid>
              <a:tr h="384048">
                <a:tc>
                  <a:txBody>
                    <a:bodyPr/>
                    <a:lstStyle/>
                    <a:p>
                      <a:pPr indent="0" marL="0">
                        <a:buNone/>
                      </a:pPr>
                      <a:r>
                        <a:rPr lang="en-US" sz="1500" b="1" dirty="0">
                          <a:solidFill>
                            <a:srgbClr val="FFFFFF"/>
                          </a:solidFill>
                          <a:latin typeface="Arial" pitchFamily="34" charset="0"/>
                          <a:ea typeface="Arial" pitchFamily="34" charset="-122"/>
                          <a:cs typeface="Arial" pitchFamily="34" charset="-120"/>
                        </a:rPr>
                        <a:t>Weekly earnings (1)</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17365D"/>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With tax-free threshold (2)</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17365D"/>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No tax-free threshold (3)</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17365D"/>
                    </a:solidFill>
                  </a:tcPr>
                </a:tc>
              </a:tr>
              <a:tr h="384048">
                <a:tc>
                  <a:txBody>
                    <a:bodyPr/>
                    <a:lstStyle/>
                    <a:p>
                      <a:pPr indent="0" marL="0">
                        <a:buNone/>
                      </a:pPr>
                      <a:r>
                        <a:rPr lang="en-US" sz="1500" dirty="0">
                          <a:solidFill>
                            <a:srgbClr val="1F2937"/>
                          </a:solidFill>
                          <a:latin typeface="Arial" pitchFamily="34" charset="0"/>
                          <a:ea typeface="Arial" pitchFamily="34" charset="-122"/>
                          <a:cs typeface="Arial" pitchFamily="34" charset="-120"/>
                        </a:rPr>
                        <a:t>348</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0.00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62.00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937"/>
                          </a:solidFill>
                          <a:latin typeface="Arial" pitchFamily="34" charset="0"/>
                          <a:ea typeface="Arial" pitchFamily="34" charset="-122"/>
                          <a:cs typeface="Arial" pitchFamily="34" charset="-120"/>
                        </a:rPr>
                        <a:t>349</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0.00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62.00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2937"/>
                          </a:solidFill>
                          <a:latin typeface="Arial" pitchFamily="34" charset="0"/>
                          <a:ea typeface="Arial" pitchFamily="34" charset="-122"/>
                          <a:cs typeface="Arial" pitchFamily="34" charset="-120"/>
                        </a:rPr>
                        <a:t>350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4C2"/>
                    </a:solidFill>
                  </a:tcPr>
                </a:tc>
                <a:tc>
                  <a:txBody>
                    <a:bodyPr/>
                    <a:lstStyle/>
                    <a:p>
                      <a:pPr indent="0" marL="0">
                        <a:buNone/>
                      </a:pPr>
                      <a:r>
                        <a:rPr lang="en-US" sz="1500" b="1" dirty="0">
                          <a:solidFill>
                            <a:srgbClr val="1F2937"/>
                          </a:solidFill>
                          <a:latin typeface="Arial" pitchFamily="34" charset="0"/>
                          <a:ea typeface="Arial" pitchFamily="34" charset="-122"/>
                          <a:cs typeface="Arial" pitchFamily="34" charset="-120"/>
                        </a:rPr>
                        <a:t>0.00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4C2"/>
                    </a:solidFill>
                  </a:tcPr>
                </a:tc>
                <a:tc>
                  <a:txBody>
                    <a:bodyPr/>
                    <a:lstStyle/>
                    <a:p>
                      <a:pPr indent="0" marL="0">
                        <a:buNone/>
                      </a:pPr>
                      <a:r>
                        <a:rPr lang="en-US" sz="1500" b="1" dirty="0">
                          <a:solidFill>
                            <a:srgbClr val="1F2937"/>
                          </a:solidFill>
                          <a:latin typeface="Arial" pitchFamily="34" charset="0"/>
                          <a:ea typeface="Arial" pitchFamily="34" charset="-122"/>
                          <a:cs typeface="Arial" pitchFamily="34" charset="-120"/>
                        </a:rPr>
                        <a:t>62.00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4C2"/>
                    </a:solidFill>
                  </a:tcPr>
                </a:tc>
              </a:tr>
              <a:tr h="384048">
                <a:tc>
                  <a:txBody>
                    <a:bodyPr/>
                    <a:lstStyle/>
                    <a:p>
                      <a:pPr indent="0" marL="0">
                        <a:buNone/>
                      </a:pPr>
                      <a:r>
                        <a:rPr lang="en-US" sz="1500" dirty="0">
                          <a:solidFill>
                            <a:srgbClr val="1F2937"/>
                          </a:solidFill>
                          <a:latin typeface="Arial" pitchFamily="34" charset="0"/>
                          <a:ea typeface="Arial" pitchFamily="34" charset="-122"/>
                          <a:cs typeface="Arial" pitchFamily="34" charset="-120"/>
                        </a:rPr>
                        <a:t>351</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0.00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62.00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937"/>
                          </a:solidFill>
                          <a:latin typeface="Arial" pitchFamily="34" charset="0"/>
                          <a:ea typeface="Arial" pitchFamily="34" charset="-122"/>
                          <a:cs typeface="Arial" pitchFamily="34" charset="-120"/>
                        </a:rPr>
                        <a:t>352</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0.00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63.00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i="1" dirty="0">
                <a:solidFill>
                  <a:srgbClr val="5B6573"/>
                </a:solidFill>
                <a:latin typeface="Arial" pitchFamily="34" charset="0"/>
                <a:ea typeface="Arial" pitchFamily="34" charset="-122"/>
                <a:cs typeface="Arial" pitchFamily="34" charset="-120"/>
              </a:rPr>
              <a:t>Rows from the ATO Weekly tax table (NAT 1005), from 1 July 2026. Amounts in dollars.</a:t>
            </a:r>
            <a:endParaRPr lang="en-US" sz="1100" dirty="0"/>
          </a:p>
        </p:txBody>
      </p:sp>
      <p:sp>
        <p:nvSpPr>
          <p:cNvPr id="7" name="Shape 4"/>
          <p:cNvSpPr/>
          <p:nvPr/>
        </p:nvSpPr>
        <p:spPr>
          <a:xfrm>
            <a:off x="6400800" y="1600200"/>
            <a:ext cx="2286000" cy="1920240"/>
          </a:xfrm>
          <a:prstGeom prst="roundRect">
            <a:avLst>
              <a:gd name="adj" fmla="val 3810"/>
            </a:avLst>
          </a:prstGeom>
          <a:solidFill>
            <a:srgbClr val="FFF4C2"/>
          </a:solidFill>
          <a:ln w="12700">
            <a:solidFill>
              <a:srgbClr val="E8C547"/>
            </a:solidFill>
            <a:prstDash val="solid"/>
          </a:ln>
        </p:spPr>
      </p:sp>
      <p:sp>
        <p:nvSpPr>
          <p:cNvPr id="8" name="Text 5"/>
          <p:cNvSpPr txBox="1"/>
          <p:nvPr/>
        </p:nvSpPr>
        <p:spPr>
          <a:xfrm>
            <a:off x="6537960" y="1600200"/>
            <a:ext cx="2011680" cy="1920240"/>
          </a:xfrm>
          <a:prstGeom prst="rect">
            <a:avLst/>
          </a:prstGeom>
          <a:noFill/>
          <a:ln/>
        </p:spPr>
        <p:txBody>
          <a:bodyPr wrap="square" lIns="0" tIns="0" rIns="0" bIns="0" rtlCol="0" anchor="ctr"/>
          <a:lstStyle/>
          <a:p>
            <a:pPr indent="0" marL="0">
              <a:buNone/>
            </a:pPr>
            <a:r>
              <a:rPr lang="en-US" sz="1700" b="1" dirty="0">
                <a:solidFill>
                  <a:srgbClr val="17365D"/>
                </a:solidFill>
                <a:latin typeface="Arial" pitchFamily="34" charset="0"/>
                <a:ea typeface="Arial" pitchFamily="34" charset="-122"/>
                <a:cs typeface="Arial" pitchFamily="34" charset="-120"/>
              </a:rPr>
              <a:t>Key question  </a:t>
            </a:r>
            <a:pPr indent="0" marL="0">
              <a:buNone/>
            </a:pPr>
            <a:r>
              <a:rPr lang="en-US" sz="1700" dirty="0">
                <a:solidFill>
                  <a:srgbClr val="1F2937"/>
                </a:solidFill>
                <a:latin typeface="Arial" pitchFamily="34" charset="0"/>
                <a:ea typeface="Arial" pitchFamily="34" charset="-122"/>
                <a:cs typeface="Arial" pitchFamily="34" charset="-120"/>
              </a:rPr>
              <a:t>For a $350 week, why is column 2 $0 but column 3 $62?</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The office assistant's net pay</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Gross pay $1,125 per week. Column 2.</a:t>
            </a:r>
            <a:endParaRPr lang="en-US" sz="1400" dirty="0"/>
          </a:p>
        </p:txBody>
      </p:sp>
      <p:sp>
        <p:nvSpPr>
          <p:cNvPr id="4" name="Text 2"/>
          <p:cNvSpPr txBox="1"/>
          <p:nvPr/>
        </p:nvSpPr>
        <p:spPr>
          <a:xfrm>
            <a:off x="2286000" y="1307592"/>
            <a:ext cx="4023360" cy="274320"/>
          </a:xfrm>
          <a:prstGeom prst="rect">
            <a:avLst/>
          </a:prstGeom>
          <a:noFill/>
          <a:ln/>
        </p:spPr>
        <p:txBody>
          <a:bodyPr wrap="square" lIns="0" tIns="0" rIns="0" bIns="0" rtlCol="0" anchor="ctr"/>
          <a:lstStyle/>
          <a:p>
            <a:pPr algn="ctr" indent="0" marL="0">
              <a:buNone/>
            </a:pPr>
            <a:r>
              <a:rPr lang="en-US" sz="1200" b="1" dirty="0">
                <a:solidFill>
                  <a:srgbClr val="5B6573"/>
                </a:solidFill>
                <a:latin typeface="Arial" pitchFamily="34" charset="0"/>
                <a:ea typeface="Arial" pitchFamily="34" charset="-122"/>
                <a:cs typeface="Arial" pitchFamily="34" charset="-120"/>
              </a:rPr>
              <a:t>Amount to be withheld</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6858000" cy="914400"/>
        </p:xfrm>
        <a:graphic>
          <a:graphicData uri="http://schemas.openxmlformats.org/drawingml/2006/table">
            <a:tbl>
              <a:tblPr/>
              <a:tblGrid>
                <a:gridCol w="1828800"/>
                <a:gridCol w="2011680"/>
                <a:gridCol w="2011680"/>
              </a:tblGrid>
              <a:tr h="384048">
                <a:tc>
                  <a:txBody>
                    <a:bodyPr/>
                    <a:lstStyle/>
                    <a:p>
                      <a:pPr indent="0" marL="0">
                        <a:buNone/>
                      </a:pPr>
                      <a:r>
                        <a:rPr lang="en-US" sz="1500" b="1" dirty="0">
                          <a:solidFill>
                            <a:srgbClr val="FFFFFF"/>
                          </a:solidFill>
                          <a:latin typeface="Arial" pitchFamily="34" charset="0"/>
                          <a:ea typeface="Arial" pitchFamily="34" charset="-122"/>
                          <a:cs typeface="Arial" pitchFamily="34" charset="-120"/>
                        </a:rPr>
                        <a:t>Weekly earnings (1)</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17365D"/>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With tax-free threshold (2)</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17365D"/>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No tax-free threshold (3)</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17365D"/>
                    </a:solidFill>
                  </a:tcPr>
                </a:tc>
              </a:tr>
              <a:tr h="384048">
                <a:tc>
                  <a:txBody>
                    <a:bodyPr/>
                    <a:lstStyle/>
                    <a:p>
                      <a:pPr indent="0" marL="0">
                        <a:buNone/>
                      </a:pPr>
                      <a:r>
                        <a:rPr lang="en-US" sz="1500" dirty="0">
                          <a:solidFill>
                            <a:srgbClr val="1F2937"/>
                          </a:solidFill>
                          <a:latin typeface="Arial" pitchFamily="34" charset="0"/>
                          <a:ea typeface="Arial" pitchFamily="34" charset="-122"/>
                          <a:cs typeface="Arial" pitchFamily="34" charset="-120"/>
                        </a:rPr>
                        <a:t>1,123</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178.00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288.00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937"/>
                          </a:solidFill>
                          <a:latin typeface="Arial" pitchFamily="34" charset="0"/>
                          <a:ea typeface="Arial" pitchFamily="34" charset="-122"/>
                          <a:cs typeface="Arial" pitchFamily="34" charset="-120"/>
                        </a:rPr>
                        <a:t>1,124</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178.00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288.00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500" b="1" dirty="0">
                          <a:solidFill>
                            <a:srgbClr val="1F2937"/>
                          </a:solidFill>
                          <a:latin typeface="Arial" pitchFamily="34" charset="0"/>
                          <a:ea typeface="Arial" pitchFamily="34" charset="-122"/>
                          <a:cs typeface="Arial" pitchFamily="34" charset="-120"/>
                        </a:rPr>
                        <a:t>1,125</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4C2"/>
                    </a:solidFill>
                  </a:tcPr>
                </a:tc>
                <a:tc>
                  <a:txBody>
                    <a:bodyPr/>
                    <a:lstStyle/>
                    <a:p>
                      <a:pPr indent="0" marL="0">
                        <a:buNone/>
                      </a:pPr>
                      <a:r>
                        <a:rPr lang="en-US" sz="1500" b="1" dirty="0">
                          <a:solidFill>
                            <a:srgbClr val="1F2937"/>
                          </a:solidFill>
                          <a:latin typeface="Arial" pitchFamily="34" charset="0"/>
                          <a:ea typeface="Arial" pitchFamily="34" charset="-122"/>
                          <a:cs typeface="Arial" pitchFamily="34" charset="-120"/>
                        </a:rPr>
                        <a:t>178.00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4C2"/>
                    </a:solidFill>
                  </a:tcPr>
                </a:tc>
                <a:tc>
                  <a:txBody>
                    <a:bodyPr/>
                    <a:lstStyle/>
                    <a:p>
                      <a:pPr indent="0" marL="0">
                        <a:buNone/>
                      </a:pPr>
                      <a:r>
                        <a:rPr lang="en-US" sz="1500" b="1" dirty="0">
                          <a:solidFill>
                            <a:srgbClr val="1F2937"/>
                          </a:solidFill>
                          <a:latin typeface="Arial" pitchFamily="34" charset="0"/>
                          <a:ea typeface="Arial" pitchFamily="34" charset="-122"/>
                          <a:cs typeface="Arial" pitchFamily="34" charset="-120"/>
                        </a:rPr>
                        <a:t>289.00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4C2"/>
                    </a:solidFill>
                  </a:tcPr>
                </a:tc>
              </a:tr>
              <a:tr h="384048">
                <a:tc>
                  <a:txBody>
                    <a:bodyPr/>
                    <a:lstStyle/>
                    <a:p>
                      <a:pPr indent="0" marL="0">
                        <a:buNone/>
                      </a:pPr>
                      <a:r>
                        <a:rPr lang="en-US" sz="1500" dirty="0">
                          <a:solidFill>
                            <a:srgbClr val="1F2937"/>
                          </a:solidFill>
                          <a:latin typeface="Arial" pitchFamily="34" charset="0"/>
                          <a:ea typeface="Arial" pitchFamily="34" charset="-122"/>
                          <a:cs typeface="Arial" pitchFamily="34" charset="-120"/>
                        </a:rPr>
                        <a:t>1,126</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178.00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289.00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r h="384048">
                <a:tc>
                  <a:txBody>
                    <a:bodyPr/>
                    <a:lstStyle/>
                    <a:p>
                      <a:pPr indent="0" marL="0">
                        <a:buNone/>
                      </a:pPr>
                      <a:r>
                        <a:rPr lang="en-US" sz="1500" dirty="0">
                          <a:solidFill>
                            <a:srgbClr val="1F2937"/>
                          </a:solidFill>
                          <a:latin typeface="Arial" pitchFamily="34" charset="0"/>
                          <a:ea typeface="Arial" pitchFamily="34" charset="-122"/>
                          <a:cs typeface="Arial" pitchFamily="34" charset="-120"/>
                        </a:rPr>
                        <a:t>1,127</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179.00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Arial" pitchFamily="34" charset="0"/>
                          <a:ea typeface="Arial" pitchFamily="34" charset="-122"/>
                          <a:cs typeface="Arial" pitchFamily="34" charset="-120"/>
                        </a:rPr>
                        <a:t>289.00</a:t>
                      </a:r>
                      <a:endParaRPr lang="en-US" sz="1500" dirty="0">
                        <a:latin typeface="Arial" charset="0"/>
                        <a:ea typeface="Arial" charset="0"/>
                        <a:cs typeface="Arial" charset="0"/>
                      </a:endParaRPr>
                    </a:p>
                  </a:txBody>
                  <a:tcPr marL="73152" marR="73152" marT="73152" marB="73152" anchor="ctr">
                    <a:lnL w="12700" cap="flat" cmpd="sng" algn="ctr">
                      <a:solidFill>
                        <a:srgbClr val="D5DCE4"/>
                      </a:solidFill>
                      <a:prstDash val="solid"/>
                      <a:round/>
                      <a:headEnd type="none" w="med" len="med"/>
                      <a:tailEnd type="none" w="med" len="med"/>
                    </a:lnL>
                    <a:lnR w="12700" cap="flat" cmpd="sng" algn="ctr">
                      <a:solidFill>
                        <a:srgbClr val="D5DCE4"/>
                      </a:solidFill>
                      <a:prstDash val="solid"/>
                      <a:round/>
                      <a:headEnd type="none" w="med" len="med"/>
                      <a:tailEnd type="none" w="med" len="med"/>
                    </a:lnR>
                    <a:lnT w="12700" cap="flat" cmpd="sng" algn="ctr">
                      <a:solidFill>
                        <a:srgbClr val="D5DCE4"/>
                      </a:solidFill>
                      <a:prstDash val="solid"/>
                      <a:round/>
                      <a:headEnd type="none" w="med" len="med"/>
                      <a:tailEnd type="none" w="med" len="med"/>
                    </a:lnT>
                    <a:lnB w="12700" cap="flat" cmpd="sng" algn="ctr">
                      <a:solidFill>
                        <a:srgbClr val="D5DCE4"/>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492240" y="1463040"/>
            <a:ext cx="2194560" cy="1234440"/>
          </a:xfrm>
          <a:prstGeom prst="rect">
            <a:avLst/>
          </a:prstGeom>
          <a:noFill/>
          <a:ln/>
        </p:spPr>
        <p:txBody>
          <a:bodyPr wrap="square" lIns="0" tIns="0" rIns="0" bIns="0" rtlCol="0" anchor="t"/>
          <a:lstStyle/>
          <a:p>
            <a:pPr indent="0" marL="0">
              <a:spcAft>
                <a:spcPts val="600"/>
              </a:spcAft>
              <a:buNone/>
            </a:pPr>
            <a:r>
              <a:rPr lang="en-US" sz="1700" dirty="0">
                <a:solidFill>
                  <a:srgbClr val="1F2937"/>
                </a:solidFill>
                <a:latin typeface="Arial" pitchFamily="34" charset="0"/>
                <a:ea typeface="Arial" pitchFamily="34" charset="-122"/>
                <a:cs typeface="Arial" pitchFamily="34" charset="-120"/>
              </a:rPr>
              <a:t>Tax withheld = $178</a:t>
            </a:r>
            <a:endParaRPr lang="en-US" sz="1700" dirty="0"/>
          </a:p>
          <a:p>
            <a:pPr indent="0" marL="0">
              <a:spcAft>
                <a:spcPts val="600"/>
              </a:spcAft>
              <a:buNone/>
            </a:pPr>
            <a:r>
              <a:rPr lang="en-US" sz="1700" dirty="0">
                <a:solidFill>
                  <a:srgbClr val="1F2937"/>
                </a:solidFill>
                <a:latin typeface="Arial" pitchFamily="34" charset="0"/>
                <a:ea typeface="Arial" pitchFamily="34" charset="-122"/>
                <a:cs typeface="Arial" pitchFamily="34" charset="-120"/>
              </a:rPr>
              <a:t>Net pay =</a:t>
            </a:r>
            <a:endParaRPr lang="en-US" sz="1700" dirty="0"/>
          </a:p>
          <a:p>
            <a:pPr indent="0" marL="0">
              <a:spcAft>
                <a:spcPts val="600"/>
              </a:spcAft>
              <a:buNone/>
            </a:pPr>
            <a:r>
              <a:rPr lang="en-US" sz="1700" b="1" dirty="0">
                <a:solidFill>
                  <a:srgbClr val="1F2937"/>
                </a:solidFill>
                <a:latin typeface="Arial" pitchFamily="34" charset="0"/>
                <a:ea typeface="Arial" pitchFamily="34" charset="-122"/>
                <a:cs typeface="Arial" pitchFamily="34" charset="-120"/>
              </a:rPr>
              <a:t>$1,125 − $178 = $947</a:t>
            </a:r>
            <a:endParaRPr lang="en-US" sz="1700" dirty="0"/>
          </a:p>
        </p:txBody>
      </p:sp>
      <p:sp>
        <p:nvSpPr>
          <p:cNvPr id="7" name="Text 4"/>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i="1" dirty="0">
                <a:solidFill>
                  <a:srgbClr val="5B6573"/>
                </a:solidFill>
                <a:latin typeface="Arial" pitchFamily="34" charset="0"/>
                <a:ea typeface="Arial" pitchFamily="34" charset="-122"/>
                <a:cs typeface="Arial" pitchFamily="34" charset="-120"/>
              </a:rPr>
              <a:t>Rows from the ATO Weekly tax table (NAT 1005), from 1 July 2026. Amounts in dollars.</a:t>
            </a:r>
            <a:endParaRPr lang="en-US" sz="1100" dirty="0"/>
          </a:p>
        </p:txBody>
      </p:sp>
      <p:sp>
        <p:nvSpPr>
          <p:cNvPr id="8" name="Shape 5"/>
          <p:cNvSpPr/>
          <p:nvPr/>
        </p:nvSpPr>
        <p:spPr>
          <a:xfrm>
            <a:off x="6492240" y="3017520"/>
            <a:ext cx="2194560" cy="1005840"/>
          </a:xfrm>
          <a:prstGeom prst="roundRect">
            <a:avLst>
              <a:gd name="adj" fmla="val 7273"/>
            </a:avLst>
          </a:prstGeom>
          <a:solidFill>
            <a:srgbClr val="FFF4C2"/>
          </a:solidFill>
          <a:ln w="12700">
            <a:solidFill>
              <a:srgbClr val="E8C547"/>
            </a:solidFill>
            <a:prstDash val="solid"/>
          </a:ln>
        </p:spPr>
      </p:sp>
      <p:sp>
        <p:nvSpPr>
          <p:cNvPr id="9" name="Text 6"/>
          <p:cNvSpPr txBox="1"/>
          <p:nvPr/>
        </p:nvSpPr>
        <p:spPr>
          <a:xfrm>
            <a:off x="6629400" y="3017520"/>
            <a:ext cx="1920240" cy="1005840"/>
          </a:xfrm>
          <a:prstGeom prst="rect">
            <a:avLst/>
          </a:prstGeom>
          <a:noFill/>
          <a:ln/>
        </p:spPr>
        <p:txBody>
          <a:bodyPr wrap="square" lIns="0" tIns="0" rIns="0" bIns="0" rtlCol="0" anchor="ctr"/>
          <a:lstStyle/>
          <a:p>
            <a:pPr indent="0" marL="0">
              <a:buNone/>
            </a:pPr>
            <a:r>
              <a:rPr lang="en-US" sz="1600" b="1" dirty="0">
                <a:solidFill>
                  <a:srgbClr val="17365D"/>
                </a:solidFill>
                <a:latin typeface="Arial" pitchFamily="34" charset="0"/>
                <a:ea typeface="Arial" pitchFamily="34" charset="-122"/>
                <a:cs typeface="Arial" pitchFamily="34" charset="-120"/>
              </a:rPr>
              <a:t>Key question  </a:t>
            </a:r>
            <a:pPr indent="0" marL="0">
              <a:buNone/>
            </a:pPr>
            <a:r>
              <a:rPr lang="en-US" sz="1600" dirty="0">
                <a:solidFill>
                  <a:srgbClr val="1F2937"/>
                </a:solidFill>
                <a:latin typeface="Arial" pitchFamily="34" charset="0"/>
                <a:ea typeface="Arial" pitchFamily="34" charset="-122"/>
                <a:cs typeface="Arial" pitchFamily="34" charset="-120"/>
              </a:rPr>
              <a:t>Is $178 the tax for the whole year?</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We do: Ella's week</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Use your tax table extract, column 2</a:t>
            </a:r>
            <a:endParaRPr lang="en-US" sz="1400" dirty="0"/>
          </a:p>
        </p:txBody>
      </p:sp>
      <p:sp>
        <p:nvSpPr>
          <p:cNvPr id="4" name="Shape 2"/>
          <p:cNvSpPr/>
          <p:nvPr/>
        </p:nvSpPr>
        <p:spPr>
          <a:xfrm>
            <a:off x="457200" y="1371600"/>
            <a:ext cx="8229600" cy="2560320"/>
          </a:xfrm>
          <a:prstGeom prst="roundRect">
            <a:avLst>
              <a:gd name="adj" fmla="val 3571"/>
            </a:avLst>
          </a:prstGeom>
          <a:solidFill>
            <a:srgbClr val="E7F2F3"/>
          </a:solidFill>
          <a:ln w="12700">
            <a:solidFill>
              <a:srgbClr val="D5DCE4"/>
            </a:solidFill>
            <a:prstDash val="solid"/>
          </a:ln>
        </p:spPr>
      </p:sp>
      <p:sp>
        <p:nvSpPr>
          <p:cNvPr id="5" name="Text 3"/>
          <p:cNvSpPr txBox="1"/>
          <p:nvPr/>
        </p:nvSpPr>
        <p:spPr>
          <a:xfrm>
            <a:off x="777240" y="1371600"/>
            <a:ext cx="7589520" cy="2560320"/>
          </a:xfrm>
          <a:prstGeom prst="rect">
            <a:avLst/>
          </a:prstGeom>
          <a:noFill/>
          <a:ln/>
        </p:spPr>
        <p:txBody>
          <a:bodyPr wrap="square" lIns="0" tIns="0" rIns="0" bIns="0" rtlCol="0" anchor="ctr"/>
          <a:lstStyle/>
          <a:p>
            <a:pPr indent="0" marL="0">
              <a:buNone/>
            </a:pPr>
            <a:r>
              <a:rPr lang="en-US" sz="3000" dirty="0">
                <a:solidFill>
                  <a:srgbClr val="1F2937"/>
                </a:solidFill>
                <a:latin typeface="Arial" pitchFamily="34" charset="0"/>
                <a:ea typeface="Arial" pitchFamily="34" charset="-122"/>
                <a:cs typeface="Arial" pitchFamily="34" charset="-120"/>
              </a:rPr>
              <a:t>Ella's week in Lesson 2 earned $575. Find the tax withheld and her net pay.</a:t>
            </a:r>
            <a:endParaRPr lang="en-US"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Gross pay, tax withheld and net pay</a:t>
            </a:r>
            <a:endParaRPr lang="en-US" sz="2800" dirty="0"/>
          </a:p>
        </p:txBody>
      </p:sp>
      <p:pic>
        <p:nvPicPr>
          <p:cNvPr id="3" name="Image 0" descr="/var/folders/9c/bpqwjkxs5lx9pmncd7cyl1kh0000gn/T/tmp.TCQnvcEieB/gross-net-pay-slide.png">    </p:cNvPr>
          <p:cNvPicPr>
            <a:picLocks noChangeAspect="1"/>
          </p:cNvPicPr>
          <p:nvPr/>
        </p:nvPicPr>
        <p:blipFill>
          <a:blip r:embed="rId1"/>
          <a:stretch>
            <a:fillRect/>
          </a:stretch>
        </p:blipFill>
        <p:spPr>
          <a:xfrm>
            <a:off x="457200" y="1143000"/>
            <a:ext cx="8229600" cy="2029378"/>
          </a:xfrm>
          <a:prstGeom prst="rect">
            <a:avLst/>
          </a:prstGeom>
        </p:spPr>
      </p:pic>
      <p:sp>
        <p:nvSpPr>
          <p:cNvPr id="4" name="Shape 1"/>
          <p:cNvSpPr/>
          <p:nvPr/>
        </p:nvSpPr>
        <p:spPr>
          <a:xfrm>
            <a:off x="457200" y="3446698"/>
            <a:ext cx="8229600" cy="777240"/>
          </a:xfrm>
          <a:prstGeom prst="roundRect">
            <a:avLst>
              <a:gd name="adj" fmla="val 9412"/>
            </a:avLst>
          </a:prstGeom>
          <a:solidFill>
            <a:srgbClr val="FFF4C2"/>
          </a:solidFill>
          <a:ln w="12700">
            <a:solidFill>
              <a:srgbClr val="E8C547"/>
            </a:solidFill>
            <a:prstDash val="solid"/>
          </a:ln>
        </p:spPr>
      </p:sp>
      <p:sp>
        <p:nvSpPr>
          <p:cNvPr id="5" name="Text 2"/>
          <p:cNvSpPr txBox="1"/>
          <p:nvPr/>
        </p:nvSpPr>
        <p:spPr>
          <a:xfrm>
            <a:off x="594360" y="3446698"/>
            <a:ext cx="7955280" cy="777240"/>
          </a:xfrm>
          <a:prstGeom prst="rect">
            <a:avLst/>
          </a:prstGeom>
          <a:noFill/>
          <a:ln/>
        </p:spPr>
        <p:txBody>
          <a:bodyPr wrap="square" lIns="0" tIns="0" rIns="0" bIns="0" rtlCol="0" anchor="ctr"/>
          <a:lstStyle/>
          <a:p>
            <a:pPr indent="0" marL="0">
              <a:buNone/>
            </a:pPr>
            <a:r>
              <a:rPr lang="en-US" sz="2000" b="1" dirty="0">
                <a:solidFill>
                  <a:srgbClr val="17365D"/>
                </a:solidFill>
                <a:latin typeface="Arial" pitchFamily="34" charset="0"/>
                <a:ea typeface="Arial" pitchFamily="34" charset="-122"/>
                <a:cs typeface="Arial" pitchFamily="34" charset="-120"/>
              </a:rPr>
              <a:t>Key question  </a:t>
            </a:r>
            <a:pPr indent="0" marL="0">
              <a:buNone/>
            </a:pPr>
            <a:r>
              <a:rPr lang="en-US" sz="2000" dirty="0">
                <a:solidFill>
                  <a:srgbClr val="1F2937"/>
                </a:solidFill>
                <a:latin typeface="Arial" pitchFamily="34" charset="0"/>
                <a:ea typeface="Arial" pitchFamily="34" charset="-122"/>
                <a:cs typeface="Arial" pitchFamily="34" charset="-120"/>
              </a:rPr>
              <a:t>Should net pay be more or less than gross pay?</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You do</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On your worksheet, with the tax table extract. Column 2 unless a question says otherwise.</a:t>
            </a:r>
            <a:endParaRPr lang="en-US" sz="1400" dirty="0"/>
          </a:p>
        </p:txBody>
      </p:sp>
      <p:sp>
        <p:nvSpPr>
          <p:cNvPr id="4" name="Text 2"/>
          <p:cNvSpPr txBox="1"/>
          <p:nvPr/>
        </p:nvSpPr>
        <p:spPr>
          <a:xfrm>
            <a:off x="457200" y="1325880"/>
            <a:ext cx="8229600" cy="3474720"/>
          </a:xfrm>
          <a:prstGeom prst="rect">
            <a:avLst/>
          </a:prstGeom>
          <a:noFill/>
          <a:ln/>
        </p:spPr>
        <p:txBody>
          <a:bodyPr wrap="square" lIns="0" tIns="0" rIns="0" bIns="0" rtlCol="0" anchor="t"/>
          <a:lstStyle/>
          <a:p>
            <a:pPr indent="0" marL="0">
              <a:spcAft>
                <a:spcPts val="1600"/>
              </a:spcAft>
              <a:buNone/>
            </a:pPr>
            <a:r>
              <a:rPr lang="en-US" sz="2000" b="1" dirty="0">
                <a:solidFill>
                  <a:srgbClr val="1F7A8C"/>
                </a:solidFill>
                <a:latin typeface="Arial" pitchFamily="34" charset="0"/>
                <a:ea typeface="Arial" pitchFamily="34" charset="-122"/>
                <a:cs typeface="Arial" pitchFamily="34" charset="-120"/>
              </a:rPr>
              <a:t>Q1  </a:t>
            </a:r>
            <a:pPr indent="0" marL="0">
              <a:spcAft>
                <a:spcPts val="1600"/>
              </a:spcAft>
              <a:buNone/>
            </a:pPr>
            <a:r>
              <a:rPr lang="en-US" sz="2000" dirty="0">
                <a:solidFill>
                  <a:srgbClr val="1F2937"/>
                </a:solidFill>
                <a:latin typeface="Arial" pitchFamily="34" charset="0"/>
                <a:ea typeface="Arial" pitchFamily="34" charset="-122"/>
                <a:cs typeface="Arial" pitchFamily="34" charset="-120"/>
              </a:rPr>
              <a:t>Jess earns $700 this week. Find the tax withheld and her net pay.</a:t>
            </a:r>
            <a:endParaRPr lang="en-US" sz="2000" dirty="0"/>
          </a:p>
          <a:p>
            <a:pPr indent="0" marL="0">
              <a:spcAft>
                <a:spcPts val="1600"/>
              </a:spcAft>
              <a:buNone/>
            </a:pPr>
            <a:r>
              <a:rPr lang="en-US" sz="2000" b="1" dirty="0">
                <a:solidFill>
                  <a:srgbClr val="1F7A8C"/>
                </a:solidFill>
                <a:latin typeface="Arial" pitchFamily="34" charset="0"/>
                <a:ea typeface="Arial" pitchFamily="34" charset="-122"/>
                <a:cs typeface="Arial" pitchFamily="34" charset="-120"/>
              </a:rPr>
              <a:t>Q2  </a:t>
            </a:r>
            <a:pPr indent="0" marL="0">
              <a:spcAft>
                <a:spcPts val="1600"/>
              </a:spcAft>
              <a:buNone/>
            </a:pPr>
            <a:r>
              <a:rPr lang="en-US" sz="2000" dirty="0">
                <a:solidFill>
                  <a:srgbClr val="1F2937"/>
                </a:solidFill>
                <a:latin typeface="Arial" pitchFamily="34" charset="0"/>
                <a:ea typeface="Arial" pitchFamily="34" charset="-122"/>
                <a:cs typeface="Arial" pitchFamily="34" charset="-120"/>
              </a:rPr>
              <a:t>Mia earned $576, $1 more than Ella. Find the tax withheld and her net pay. Did the extra $1 change the tax?</a:t>
            </a:r>
            <a:endParaRPr lang="en-US" sz="2000" dirty="0"/>
          </a:p>
          <a:p>
            <a:pPr indent="0" marL="0">
              <a:spcAft>
                <a:spcPts val="1600"/>
              </a:spcAft>
              <a:buNone/>
            </a:pPr>
            <a:r>
              <a:rPr lang="en-US" sz="2000" b="1" dirty="0">
                <a:solidFill>
                  <a:srgbClr val="1F7A8C"/>
                </a:solidFill>
                <a:latin typeface="Arial" pitchFamily="34" charset="0"/>
                <a:ea typeface="Arial" pitchFamily="34" charset="-122"/>
                <a:cs typeface="Arial" pitchFamily="34" charset="-120"/>
              </a:rPr>
              <a:t>Q3  </a:t>
            </a:r>
            <a:pPr indent="0" marL="0">
              <a:spcAft>
                <a:spcPts val="1600"/>
              </a:spcAft>
              <a:buNone/>
            </a:pPr>
            <a:r>
              <a:rPr lang="en-US" sz="2000" dirty="0">
                <a:solidFill>
                  <a:srgbClr val="1F2937"/>
                </a:solidFill>
                <a:latin typeface="Arial" pitchFamily="34" charset="0"/>
                <a:ea typeface="Arial" pitchFamily="34" charset="-122"/>
                <a:cs typeface="Arial" pitchFamily="34" charset="-120"/>
              </a:rPr>
              <a:t>Priya's normal week is $1,000. Find the tax withheld and her net pay.</a:t>
            </a:r>
            <a:endParaRPr lang="en-US" sz="2000" dirty="0"/>
          </a:p>
          <a:p>
            <a:pPr indent="0" marL="0">
              <a:spcAft>
                <a:spcPts val="1600"/>
              </a:spcAft>
              <a:buNone/>
            </a:pPr>
            <a:r>
              <a:rPr lang="en-US" sz="2000" b="1" dirty="0">
                <a:solidFill>
                  <a:srgbClr val="1F7A8C"/>
                </a:solidFill>
                <a:latin typeface="Arial" pitchFamily="34" charset="0"/>
                <a:ea typeface="Arial" pitchFamily="34" charset="-122"/>
                <a:cs typeface="Arial" pitchFamily="34" charset="-120"/>
              </a:rPr>
              <a:t>Q4  </a:t>
            </a:r>
            <a:pPr indent="0" marL="0">
              <a:spcAft>
                <a:spcPts val="1600"/>
              </a:spcAft>
              <a:buNone/>
            </a:pPr>
            <a:r>
              <a:rPr lang="en-US" sz="2000" dirty="0">
                <a:solidFill>
                  <a:srgbClr val="1F2937"/>
                </a:solidFill>
                <a:latin typeface="Arial" pitchFamily="34" charset="0"/>
                <a:ea typeface="Arial" pitchFamily="34" charset="-122"/>
                <a:cs typeface="Arial" pitchFamily="34" charset="-120"/>
              </a:rPr>
              <a:t>Look up $600 in column 2 and column 3. Which withholds more tax, and by how much?</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Putting it together</a:t>
            </a:r>
            <a:endParaRPr lang="en-US" sz="2800" dirty="0"/>
          </a:p>
        </p:txBody>
      </p:sp>
      <p:sp>
        <p:nvSpPr>
          <p:cNvPr id="3" name="Text 1"/>
          <p:cNvSpPr txBox="1"/>
          <p:nvPr/>
        </p:nvSpPr>
        <p:spPr>
          <a:xfrm>
            <a:off x="457200" y="804672"/>
            <a:ext cx="8229600" cy="320040"/>
          </a:xfrm>
          <a:prstGeom prst="rect">
            <a:avLst/>
          </a:prstGeom>
          <a:noFill/>
          <a:ln/>
        </p:spPr>
        <p:txBody>
          <a:bodyPr wrap="square" lIns="0" tIns="0" rIns="0" bIns="0" rtlCol="0" anchor="ctr"/>
          <a:lstStyle/>
          <a:p>
            <a:pPr indent="0" marL="0">
              <a:buNone/>
            </a:pPr>
            <a:r>
              <a:rPr lang="en-US" sz="1400" dirty="0">
                <a:solidFill>
                  <a:srgbClr val="5B6573"/>
                </a:solidFill>
                <a:latin typeface="Arial" pitchFamily="34" charset="0"/>
                <a:ea typeface="Arial" pitchFamily="34" charset="-122"/>
                <a:cs typeface="Arial" pitchFamily="34" charset="-120"/>
              </a:rPr>
              <a:t>In pairs, but write your own working</a:t>
            </a:r>
            <a:endParaRPr lang="en-US" sz="1400" dirty="0"/>
          </a:p>
        </p:txBody>
      </p:sp>
      <p:sp>
        <p:nvSpPr>
          <p:cNvPr id="4" name="Shape 2"/>
          <p:cNvSpPr/>
          <p:nvPr/>
        </p:nvSpPr>
        <p:spPr>
          <a:xfrm>
            <a:off x="457200" y="1188720"/>
            <a:ext cx="8229600" cy="731520"/>
          </a:xfrm>
          <a:prstGeom prst="roundRect">
            <a:avLst>
              <a:gd name="adj" fmla="val 12500"/>
            </a:avLst>
          </a:prstGeom>
          <a:solidFill>
            <a:srgbClr val="E7F2F3"/>
          </a:solidFill>
          <a:ln w="12700">
            <a:solidFill>
              <a:srgbClr val="D5DCE4"/>
            </a:solidFill>
            <a:prstDash val="solid"/>
          </a:ln>
        </p:spPr>
      </p:sp>
      <p:sp>
        <p:nvSpPr>
          <p:cNvPr id="5" name="Text 3"/>
          <p:cNvSpPr txBox="1"/>
          <p:nvPr/>
        </p:nvSpPr>
        <p:spPr>
          <a:xfrm>
            <a:off x="685800" y="1188720"/>
            <a:ext cx="7772400" cy="731520"/>
          </a:xfrm>
          <a:prstGeom prst="rect">
            <a:avLst/>
          </a:prstGeom>
          <a:noFill/>
          <a:ln/>
        </p:spPr>
        <p:txBody>
          <a:bodyPr wrap="square" lIns="0" tIns="0" rIns="0" bIns="0" rtlCol="0" anchor="ctr"/>
          <a:lstStyle/>
          <a:p>
            <a:pPr indent="0" marL="0">
              <a:buNone/>
            </a:pPr>
            <a:r>
              <a:rPr lang="en-US" sz="1700" dirty="0">
                <a:solidFill>
                  <a:srgbClr val="1F2937"/>
                </a:solidFill>
                <a:latin typeface="Arial" pitchFamily="34" charset="0"/>
                <a:ea typeface="Arial" pitchFamily="34" charset="-122"/>
                <a:cs typeface="Arial" pitchFamily="34" charset="-120"/>
              </a:rPr>
              <a:t>Sam works weekday shifts only and earns a salary of $46,800 per year. He has claimed the tax-free threshold.</a:t>
            </a:r>
            <a:endParaRPr lang="en-US" sz="1700" dirty="0"/>
          </a:p>
        </p:txBody>
      </p:sp>
      <p:sp>
        <p:nvSpPr>
          <p:cNvPr id="6" name="Text 4"/>
          <p:cNvSpPr txBox="1"/>
          <p:nvPr/>
        </p:nvSpPr>
        <p:spPr>
          <a:xfrm>
            <a:off x="457200" y="2103120"/>
            <a:ext cx="8229600" cy="1737360"/>
          </a:xfrm>
          <a:prstGeom prst="rect">
            <a:avLst/>
          </a:prstGeom>
          <a:noFill/>
          <a:ln/>
        </p:spPr>
        <p:txBody>
          <a:bodyPr wrap="square" lIns="0" tIns="0" rIns="0" bIns="0" rtlCol="0" anchor="t"/>
          <a:lstStyle/>
          <a:p>
            <a:pPr indent="0" marL="0">
              <a:spcAft>
                <a:spcPts val="800"/>
              </a:spcAft>
              <a:buNone/>
            </a:pPr>
            <a:r>
              <a:rPr lang="en-US" sz="1700" b="1" dirty="0">
                <a:solidFill>
                  <a:srgbClr val="1F2937"/>
                </a:solidFill>
                <a:latin typeface="Arial" pitchFamily="34" charset="0"/>
                <a:ea typeface="Arial" pitchFamily="34" charset="-122"/>
                <a:cs typeface="Arial" pitchFamily="34" charset="-120"/>
              </a:rPr>
              <a:t>(a)  </a:t>
            </a:r>
            <a:pPr indent="0" marL="0">
              <a:spcAft>
                <a:spcPts val="800"/>
              </a:spcAft>
              <a:buNone/>
            </a:pPr>
            <a:r>
              <a:rPr lang="en-US" sz="1700" dirty="0">
                <a:solidFill>
                  <a:srgbClr val="1F2937"/>
                </a:solidFill>
                <a:latin typeface="Arial" pitchFamily="34" charset="0"/>
                <a:ea typeface="Arial" pitchFamily="34" charset="-122"/>
                <a:cs typeface="Arial" pitchFamily="34" charset="-120"/>
              </a:rPr>
              <a:t>What is Sam's gross weekly pay?</a:t>
            </a:r>
            <a:endParaRPr lang="en-US" sz="1700" dirty="0"/>
          </a:p>
          <a:p>
            <a:pPr indent="0" marL="0">
              <a:spcAft>
                <a:spcPts val="800"/>
              </a:spcAft>
              <a:buNone/>
            </a:pPr>
            <a:r>
              <a:rPr lang="en-US" sz="1700" b="1" dirty="0">
                <a:solidFill>
                  <a:srgbClr val="1F2937"/>
                </a:solidFill>
                <a:latin typeface="Arial" pitchFamily="34" charset="0"/>
                <a:ea typeface="Arial" pitchFamily="34" charset="-122"/>
                <a:cs typeface="Arial" pitchFamily="34" charset="-120"/>
              </a:rPr>
              <a:t>(b)  </a:t>
            </a:r>
            <a:pPr indent="0" marL="0">
              <a:spcAft>
                <a:spcPts val="800"/>
              </a:spcAft>
              <a:buNone/>
            </a:pPr>
            <a:r>
              <a:rPr lang="en-US" sz="1700" dirty="0">
                <a:solidFill>
                  <a:srgbClr val="1F2937"/>
                </a:solidFill>
                <a:latin typeface="Arial" pitchFamily="34" charset="0"/>
                <a:ea typeface="Arial" pitchFamily="34" charset="-122"/>
                <a:cs typeface="Arial" pitchFamily="34" charset="-120"/>
              </a:rPr>
              <a:t>Use the tax table to find his tax withheld and net weekly pay.</a:t>
            </a:r>
            <a:endParaRPr lang="en-US" sz="1700" dirty="0"/>
          </a:p>
          <a:p>
            <a:pPr indent="0" marL="0">
              <a:spcAft>
                <a:spcPts val="800"/>
              </a:spcAft>
              <a:buNone/>
            </a:pPr>
            <a:r>
              <a:rPr lang="en-US" sz="1700" b="1" dirty="0">
                <a:solidFill>
                  <a:srgbClr val="1F2937"/>
                </a:solidFill>
                <a:latin typeface="Arial" pitchFamily="34" charset="0"/>
                <a:ea typeface="Arial" pitchFamily="34" charset="-122"/>
                <a:cs typeface="Arial" pitchFamily="34" charset="-120"/>
              </a:rPr>
              <a:t>(c)  </a:t>
            </a:r>
            <a:pPr indent="0" marL="0">
              <a:spcAft>
                <a:spcPts val="800"/>
              </a:spcAft>
              <a:buNone/>
            </a:pPr>
            <a:r>
              <a:rPr lang="en-US" sz="1700" dirty="0">
                <a:solidFill>
                  <a:srgbClr val="1F2937"/>
                </a:solidFill>
                <a:latin typeface="Arial" pitchFamily="34" charset="0"/>
                <a:ea typeface="Arial" pitchFamily="34" charset="-122"/>
                <a:cs typeface="Arial" pitchFamily="34" charset="-120"/>
              </a:rPr>
              <a:t>Sam's award pays 17.5% leave loading. How much is he paid in total for 4 weeks of annual leave?</a:t>
            </a:r>
            <a:endParaRPr lang="en-US" sz="1700" dirty="0"/>
          </a:p>
        </p:txBody>
      </p:sp>
      <p:sp>
        <p:nvSpPr>
          <p:cNvPr id="7" name="Text 5"/>
          <p:cNvSpPr txBox="1"/>
          <p:nvPr/>
        </p:nvSpPr>
        <p:spPr>
          <a:xfrm>
            <a:off x="457200" y="4023360"/>
            <a:ext cx="8229600" cy="731520"/>
          </a:xfrm>
          <a:prstGeom prst="rect">
            <a:avLst/>
          </a:prstGeom>
          <a:noFill/>
          <a:ln/>
        </p:spPr>
        <p:txBody>
          <a:bodyPr wrap="square" lIns="0" tIns="0" rIns="0" bIns="0" rtlCol="0" anchor="t"/>
          <a:lstStyle/>
          <a:p>
            <a:pPr indent="0" marL="0">
              <a:buNone/>
            </a:pPr>
            <a:r>
              <a:rPr lang="en-US" sz="1600" b="1" dirty="0">
                <a:solidFill>
                  <a:srgbClr val="17365D"/>
                </a:solidFill>
                <a:latin typeface="Arial" pitchFamily="34" charset="0"/>
                <a:ea typeface="Arial" pitchFamily="34" charset="-122"/>
                <a:cs typeface="Arial" pitchFamily="34" charset="-120"/>
              </a:rPr>
              <a:t>Extension  </a:t>
            </a:r>
            <a:pPr indent="0" marL="0">
              <a:buNone/>
            </a:pPr>
            <a:r>
              <a:rPr lang="en-US" sz="1600" dirty="0">
                <a:solidFill>
                  <a:srgbClr val="1F2937"/>
                </a:solidFill>
                <a:latin typeface="Arial" pitchFamily="34" charset="0"/>
                <a:ea typeface="Arial" pitchFamily="34" charset="-122"/>
                <a:cs typeface="Arial" pitchFamily="34" charset="-120"/>
              </a:rPr>
              <a:t>How many weeks long is an average month? Why does “monthly pay = 4 × weekly pay” always give too little?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Back to the job ads</a:t>
            </a:r>
            <a:endParaRPr lang="en-US" sz="2800" dirty="0"/>
          </a:p>
        </p:txBody>
      </p:sp>
      <p:sp>
        <p:nvSpPr>
          <p:cNvPr id="3" name="Shape 1"/>
          <p:cNvSpPr/>
          <p:nvPr/>
        </p:nvSpPr>
        <p:spPr>
          <a:xfrm>
            <a:off x="457200" y="1143000"/>
            <a:ext cx="8229600" cy="1097280"/>
          </a:xfrm>
          <a:prstGeom prst="roundRect">
            <a:avLst>
              <a:gd name="adj" fmla="val 6667"/>
            </a:avLst>
          </a:prstGeom>
          <a:solidFill>
            <a:srgbClr val="FFF4C2"/>
          </a:solidFill>
          <a:ln w="12700">
            <a:solidFill>
              <a:srgbClr val="E8C547"/>
            </a:solidFill>
            <a:prstDash val="solid"/>
          </a:ln>
        </p:spPr>
      </p:sp>
      <p:sp>
        <p:nvSpPr>
          <p:cNvPr id="4" name="Text 2"/>
          <p:cNvSpPr txBox="1"/>
          <p:nvPr/>
        </p:nvSpPr>
        <p:spPr>
          <a:xfrm>
            <a:off x="594360" y="1143000"/>
            <a:ext cx="7955280" cy="1097280"/>
          </a:xfrm>
          <a:prstGeom prst="rect">
            <a:avLst/>
          </a:prstGeom>
          <a:noFill/>
          <a:ln/>
        </p:spPr>
        <p:txBody>
          <a:bodyPr wrap="square" lIns="0" tIns="0" rIns="0" bIns="0" rtlCol="0" anchor="ctr"/>
          <a:lstStyle/>
          <a:p>
            <a:pPr indent="0" marL="0">
              <a:buNone/>
            </a:pPr>
            <a:r>
              <a:rPr lang="en-US" sz="2200" b="1" dirty="0">
                <a:solidFill>
                  <a:srgbClr val="17365D"/>
                </a:solidFill>
                <a:latin typeface="Arial" pitchFamily="34" charset="0"/>
                <a:ea typeface="Arial" pitchFamily="34" charset="-122"/>
                <a:cs typeface="Arial" pitchFamily="34" charset="-120"/>
              </a:rPr>
              <a:t>Key question  </a:t>
            </a:r>
            <a:pPr indent="0" marL="0">
              <a:buNone/>
            </a:pPr>
            <a:r>
              <a:rPr lang="en-US" sz="2200" dirty="0">
                <a:solidFill>
                  <a:srgbClr val="1F2937"/>
                </a:solidFill>
                <a:latin typeface="Arial" pitchFamily="34" charset="0"/>
                <a:ea typeface="Arial" pitchFamily="34" charset="-122"/>
                <a:cs typeface="Arial" pitchFamily="34" charset="-120"/>
              </a:rPr>
              <a:t>So which job pays the most: the barista working 38 hours a week, or the office assistant?</a:t>
            </a:r>
            <a:endParaRPr lang="en-US" sz="2200" dirty="0"/>
          </a:p>
        </p:txBody>
      </p:sp>
      <p:sp>
        <p:nvSpPr>
          <p:cNvPr id="5" name="Shape 3"/>
          <p:cNvSpPr/>
          <p:nvPr/>
        </p:nvSpPr>
        <p:spPr>
          <a:xfrm>
            <a:off x="457200" y="2514600"/>
            <a:ext cx="8229600" cy="1463040"/>
          </a:xfrm>
          <a:prstGeom prst="roundRect">
            <a:avLst>
              <a:gd name="adj" fmla="val 6250"/>
            </a:avLst>
          </a:prstGeom>
          <a:solidFill>
            <a:srgbClr val="E7F2F3"/>
          </a:solidFill>
          <a:ln w="12700">
            <a:solidFill>
              <a:srgbClr val="D5DCE4"/>
            </a:solidFill>
            <a:prstDash val="solid"/>
          </a:ln>
        </p:spPr>
      </p:sp>
      <p:sp>
        <p:nvSpPr>
          <p:cNvPr id="6" name="Text 4"/>
          <p:cNvSpPr txBox="1"/>
          <p:nvPr/>
        </p:nvSpPr>
        <p:spPr>
          <a:xfrm>
            <a:off x="777240" y="2514600"/>
            <a:ext cx="7589520" cy="1463040"/>
          </a:xfrm>
          <a:prstGeom prst="rect">
            <a:avLst/>
          </a:prstGeom>
          <a:noFill/>
          <a:ln/>
        </p:spPr>
        <p:txBody>
          <a:bodyPr wrap="square" lIns="0" tIns="0" rIns="0" bIns="0" rtlCol="0" anchor="ctr"/>
          <a:lstStyle/>
          <a:p>
            <a:pPr indent="0" marL="0">
              <a:buNone/>
            </a:pPr>
            <a:r>
              <a:rPr lang="en-US" sz="2400" dirty="0">
                <a:solidFill>
                  <a:srgbClr val="1F2937"/>
                </a:solidFill>
                <a:latin typeface="Arial" pitchFamily="34" charset="0"/>
                <a:ea typeface="Arial" pitchFamily="34" charset="-122"/>
                <a:cs typeface="Arial" pitchFamily="34" charset="-120"/>
              </a:rPr>
              <a:t>Write your answer in one full sentence that includes both gross and net weekly pay.</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Exit ticket</a:t>
            </a:r>
            <a:endParaRPr lang="en-US" sz="2800" dirty="0"/>
          </a:p>
        </p:txBody>
      </p:sp>
      <p:sp>
        <p:nvSpPr>
          <p:cNvPr id="3" name="Shape 1"/>
          <p:cNvSpPr/>
          <p:nvPr/>
        </p:nvSpPr>
        <p:spPr>
          <a:xfrm>
            <a:off x="457200" y="1005840"/>
            <a:ext cx="8229600" cy="1828800"/>
          </a:xfrm>
          <a:prstGeom prst="roundRect">
            <a:avLst>
              <a:gd name="adj" fmla="val 5000"/>
            </a:avLst>
          </a:prstGeom>
          <a:solidFill>
            <a:srgbClr val="E7F2F3"/>
          </a:solidFill>
          <a:ln w="12700">
            <a:solidFill>
              <a:srgbClr val="D5DCE4"/>
            </a:solidFill>
            <a:prstDash val="solid"/>
          </a:ln>
        </p:spPr>
      </p:sp>
      <p:sp>
        <p:nvSpPr>
          <p:cNvPr id="4" name="Text 2"/>
          <p:cNvSpPr txBox="1"/>
          <p:nvPr/>
        </p:nvSpPr>
        <p:spPr>
          <a:xfrm>
            <a:off x="731520" y="1005840"/>
            <a:ext cx="7680960" cy="1828800"/>
          </a:xfrm>
          <a:prstGeom prst="rect">
            <a:avLst/>
          </a:prstGeom>
          <a:noFill/>
          <a:ln/>
        </p:spPr>
        <p:txBody>
          <a:bodyPr wrap="square" lIns="0" tIns="0" rIns="0" bIns="0" rtlCol="0" anchor="ctr"/>
          <a:lstStyle/>
          <a:p>
            <a:pPr marL="342900" indent="-342900">
              <a:spcAft>
                <a:spcPts val="800"/>
              </a:spcAft>
              <a:buSzPct val="100000"/>
              <a:buChar char="•"/>
            </a:pPr>
            <a:r>
              <a:rPr lang="en-US" sz="2000" dirty="0">
                <a:solidFill>
                  <a:srgbClr val="1F2937"/>
                </a:solidFill>
                <a:latin typeface="Arial" pitchFamily="34" charset="0"/>
                <a:ea typeface="Arial" pitchFamily="34" charset="-122"/>
                <a:cs typeface="Arial" pitchFamily="34" charset="-120"/>
              </a:rPr>
              <a:t>Tax table extract and calculator allowed.</a:t>
            </a:r>
            <a:endParaRPr lang="en-US" sz="2000" dirty="0"/>
          </a:p>
          <a:p>
            <a:pPr marL="342900" indent="-342900">
              <a:spcAft>
                <a:spcPts val="800"/>
              </a:spcAft>
              <a:buSzPct val="100000"/>
              <a:buChar char="•"/>
            </a:pPr>
            <a:r>
              <a:rPr lang="en-US" sz="2000" dirty="0">
                <a:solidFill>
                  <a:srgbClr val="1F2937"/>
                </a:solidFill>
                <a:latin typeface="Arial" pitchFamily="34" charset="0"/>
                <a:ea typeface="Arial" pitchFamily="34" charset="-122"/>
                <a:cs typeface="Arial" pitchFamily="34" charset="-120"/>
              </a:rPr>
              <a:t>Tick the success criteria you can now do.</a:t>
            </a:r>
            <a:endParaRPr lang="en-US" sz="2000" dirty="0"/>
          </a:p>
          <a:p>
            <a:pPr marL="342900" indent="-342900">
              <a:spcAft>
                <a:spcPts val="800"/>
              </a:spcAft>
              <a:buSzPct val="100000"/>
              <a:buChar char="•"/>
            </a:pPr>
            <a:r>
              <a:rPr lang="en-US" sz="2000" dirty="0">
                <a:solidFill>
                  <a:srgbClr val="1F2937"/>
                </a:solidFill>
                <a:latin typeface="Arial" pitchFamily="34" charset="0"/>
                <a:ea typeface="Arial" pitchFamily="34" charset="-122"/>
                <a:cs typeface="Arial" pitchFamily="34" charset="-120"/>
              </a:rPr>
              <a:t>For any you cannot tick, write the step that is still unclear.</a:t>
            </a:r>
            <a:endParaRPr lang="en-US" sz="2000" dirty="0"/>
          </a:p>
        </p:txBody>
      </p:sp>
      <p:sp>
        <p:nvSpPr>
          <p:cNvPr id="5" name="Shape 3"/>
          <p:cNvSpPr/>
          <p:nvPr/>
        </p:nvSpPr>
        <p:spPr>
          <a:xfrm>
            <a:off x="457200" y="3108960"/>
            <a:ext cx="8229600" cy="1463040"/>
          </a:xfrm>
          <a:prstGeom prst="roundRect">
            <a:avLst>
              <a:gd name="adj" fmla="val 6250"/>
            </a:avLst>
          </a:prstGeom>
          <a:solidFill>
            <a:srgbClr val="17365D"/>
          </a:solidFill>
          <a:ln w="12700">
            <a:solidFill>
              <a:srgbClr val="17365D"/>
            </a:solidFill>
            <a:prstDash val="solid"/>
          </a:ln>
        </p:spPr>
      </p:sp>
      <p:sp>
        <p:nvSpPr>
          <p:cNvPr id="6" name="Text 4"/>
          <p:cNvSpPr txBox="1"/>
          <p:nvPr/>
        </p:nvSpPr>
        <p:spPr>
          <a:xfrm>
            <a:off x="731520" y="3108960"/>
            <a:ext cx="7680960" cy="1463040"/>
          </a:xfrm>
          <a:prstGeom prst="rect">
            <a:avLst/>
          </a:prstGeom>
          <a:noFill/>
          <a:ln/>
        </p:spPr>
        <p:txBody>
          <a:bodyPr wrap="square" lIns="0" tIns="0" rIns="0" bIns="0" rtlCol="0" anchor="ctr"/>
          <a:lstStyle/>
          <a:p>
            <a:pPr indent="0" marL="0">
              <a:buNone/>
            </a:pPr>
            <a:r>
              <a:rPr lang="en-US" sz="2000" b="1" dirty="0">
                <a:solidFill>
                  <a:srgbClr val="CFE3E8"/>
                </a:solidFill>
                <a:latin typeface="Arial" pitchFamily="34" charset="0"/>
                <a:ea typeface="Arial" pitchFamily="34" charset="-122"/>
                <a:cs typeface="Arial" pitchFamily="34" charset="-120"/>
              </a:rPr>
              <a:t>Next  </a:t>
            </a:r>
            <a:pPr indent="0" marL="0">
              <a:buNone/>
            </a:pPr>
            <a:r>
              <a:rPr lang="en-US" sz="2000" dirty="0">
                <a:solidFill>
                  <a:srgbClr val="FFFFFF"/>
                </a:solidFill>
                <a:latin typeface="Arial" pitchFamily="34" charset="0"/>
                <a:ea typeface="Arial" pitchFamily="34" charset="-122"/>
                <a:cs typeface="Arial" pitchFamily="34" charset="-120"/>
              </a:rPr>
              <a:t>The tax withheld each week counts towards the tax you owe for the year. Next we look at how yearly taxable income is worked out.</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2800" b="1" dirty="0">
                <a:solidFill>
                  <a:srgbClr val="17365D"/>
                </a:solidFill>
                <a:latin typeface="Arial" pitchFamily="34" charset="0"/>
                <a:ea typeface="Arial" pitchFamily="34" charset="-122"/>
                <a:cs typeface="Arial" pitchFamily="34" charset="-120"/>
              </a:rPr>
              <a:t>Image credits</a:t>
            </a:r>
            <a:endParaRPr lang="en-US" sz="2800" dirty="0"/>
          </a:p>
        </p:txBody>
      </p:sp>
      <p:sp>
        <p:nvSpPr>
          <p:cNvPr id="3" name="Text 1"/>
          <p:cNvSpPr txBox="1"/>
          <p:nvPr/>
        </p:nvSpPr>
        <p:spPr>
          <a:xfrm>
            <a:off x="457200" y="1005840"/>
            <a:ext cx="8229600" cy="2743200"/>
          </a:xfrm>
          <a:prstGeom prst="rect">
            <a:avLst/>
          </a:prstGeom>
          <a:noFill/>
          <a:ln/>
        </p:spPr>
        <p:txBody>
          <a:bodyPr wrap="square" lIns="0" tIns="0" rIns="0" bIns="0" rtlCol="0" anchor="t"/>
          <a:lstStyle/>
          <a:p>
            <a:pPr indent="0" marL="0">
              <a:spcAft>
                <a:spcPts val="800"/>
              </a:spcAft>
              <a:buNone/>
            </a:pPr>
            <a:r>
              <a:rPr lang="en-US" sz="1400" dirty="0">
                <a:solidFill>
                  <a:srgbClr val="1F2937"/>
                </a:solidFill>
                <a:latin typeface="Arial" pitchFamily="34" charset="0"/>
                <a:ea typeface="Arial" pitchFamily="34" charset="-122"/>
                <a:cs typeface="Arial" pitchFamily="34" charset="-120"/>
              </a:rPr>
              <a:t>annual leave: "Sun loungers" by Ed.ward, CC BY-SA 2.0</a:t>
            </a:r>
            <a:endParaRPr lang="en-US" sz="1400" dirty="0"/>
          </a:p>
          <a:p>
            <a:pPr indent="0" marL="0">
              <a:spcAft>
                <a:spcPts val="800"/>
              </a:spcAft>
              <a:buNone/>
            </a:pPr>
            <a:r>
              <a:rPr lang="en-US" sz="1400" dirty="0">
                <a:solidFill>
                  <a:srgbClr val="1F2937"/>
                </a:solidFill>
                <a:latin typeface="Arial" pitchFamily="34" charset="0"/>
                <a:ea typeface="Arial" pitchFamily="34" charset="-122"/>
                <a:cs typeface="Arial" pitchFamily="34" charset="-120"/>
              </a:rPr>
              <a:t>Tax table rows: Australian Taxation Office, Weekly tax table (NAT 1005), from 1 July 2026. The ATO allows its material to be copied and adapted.</a:t>
            </a:r>
            <a:endParaRPr lang="en-US" sz="1400" dirty="0"/>
          </a:p>
          <a:p>
            <a:pPr indent="0" marL="0">
              <a:spcAft>
                <a:spcPts val="800"/>
              </a:spcAft>
              <a:buNone/>
            </a:pPr>
            <a:r>
              <a:rPr lang="en-US" sz="1400" dirty="0">
                <a:solidFill>
                  <a:srgbClr val="1F2937"/>
                </a:solidFill>
                <a:latin typeface="Arial" pitchFamily="34" charset="0"/>
                <a:ea typeface="Arial" pitchFamily="34" charset="-122"/>
                <a:cs typeface="Arial" pitchFamily="34" charset="-120"/>
              </a:rPr>
              <a:t>Names and figures other than the ATO and Fair Work figures are made up for this lesson.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 From Gross Pay to Take-Home Pay</dc:title>
  <dc:subject>PptxGenJS Presentation</dc:subject>
  <dc:creator>Chloe Hsieh</dc:creator>
  <cp:lastModifiedBy>Chloe Hsieh</cp:lastModifiedBy>
  <cp:revision>1</cp:revision>
  <dcterms:created xsi:type="dcterms:W3CDTF">2026-10-19T13:49:25Z</dcterms:created>
  <dcterms:modified xsi:type="dcterms:W3CDTF">2026-10-19T13:49:25Z</dcterms:modified>
</cp:coreProperties>
</file>